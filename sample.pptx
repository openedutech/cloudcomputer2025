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6256000" cy="9144000"/>
  <p:notesSz cx="9144000" cy="16256000"/>
  <p:embeddedFontLst>
    <p:embeddedFont>
      <p:font typeface="Liter" panose="02010600030101010101" charset="0"/>
      <p:regular r:id="rId11"/>
    </p:embeddedFont>
    <p:embeddedFont>
      <p:font typeface="MiSans" panose="00000500000000000000" pitchFamily="2" charset="-122"/>
      <p:regular r:id="rId12"/>
    </p:embeddedFont>
    <p:embeddedFont>
      <p:font typeface="Noto Sans SC" panose="020B0200000000000000" pitchFamily="34" charset="-122"/>
      <p:regular r:id="rId13"/>
      <p:bold r:id="rId14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E81AC"/>
    <a:srgbClr val="B8BB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88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10220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ages.stockcake.com/e234d6cf6b230a019feb25ed229d99cba9177c60.jpg"/>
          <p:cNvPicPr>
            <a:picLocks noChangeAspect="1"/>
          </p:cNvPicPr>
          <p:nvPr/>
        </p:nvPicPr>
        <p:blipFill>
          <a:blip r:embed="rId3">
            <a:alphaModFix amt="40000"/>
          </a:blip>
          <a:srcRect t="21875" b="21875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8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r>
              <a:rPr lang="en-US" altLang="zh-CN" dirty="0"/>
              <a:t>0000000000000000</a:t>
            </a:r>
            <a:endParaRPr lang="zh-CN" altLang="en-US" dirty="0"/>
          </a:p>
        </p:txBody>
      </p:sp>
      <p:sp>
        <p:nvSpPr>
          <p:cNvPr id="4" name="Shape 1"/>
          <p:cNvSpPr/>
          <p:nvPr/>
        </p:nvSpPr>
        <p:spPr>
          <a:xfrm>
            <a:off x="508000" y="1035050"/>
            <a:ext cx="812800" cy="12700"/>
          </a:xfrm>
          <a:custGeom>
            <a:avLst/>
            <a:gdLst/>
            <a:ahLst/>
            <a:cxnLst/>
            <a:rect l="l" t="t" r="r" b="b"/>
            <a:pathLst>
              <a:path w="812800" h="12700">
                <a:moveTo>
                  <a:pt x="0" y="0"/>
                </a:moveTo>
                <a:lnTo>
                  <a:pt x="812800" y="0"/>
                </a:lnTo>
                <a:lnTo>
                  <a:pt x="812800" y="12700"/>
                </a:lnTo>
                <a:lnTo>
                  <a:pt x="0" y="12700"/>
                </a:lnTo>
                <a:lnTo>
                  <a:pt x="0" y="0"/>
                </a:lnTo>
                <a:close/>
              </a:path>
            </a:pathLst>
          </a:custGeom>
          <a:solidFill>
            <a:srgbClr val="5E81AC"/>
          </a:solidFill>
          <a:ln/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Text 2"/>
          <p:cNvSpPr/>
          <p:nvPr/>
        </p:nvSpPr>
        <p:spPr>
          <a:xfrm>
            <a:off x="1473200" y="914400"/>
            <a:ext cx="4152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8000" y="3208073"/>
            <a:ext cx="15697200" cy="200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72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跨模态视觉模型</a:t>
            </a:r>
            <a:endParaRPr lang="en-US" sz="1600" dirty="0"/>
          </a:p>
          <a:p>
            <a:pPr>
              <a:lnSpc>
                <a:spcPct val="90000"/>
              </a:lnSpc>
            </a:pPr>
            <a:r>
              <a:rPr lang="en-US" sz="72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前沿进展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08000" y="5524500"/>
            <a:ext cx="1625600" cy="50800"/>
          </a:xfrm>
          <a:custGeom>
            <a:avLst/>
            <a:gdLst/>
            <a:ahLst/>
            <a:cxnLst/>
            <a:rect l="l" t="t" r="r" b="b"/>
            <a:pathLst>
              <a:path w="1625600" h="50800">
                <a:moveTo>
                  <a:pt x="0" y="0"/>
                </a:moveTo>
                <a:lnTo>
                  <a:pt x="1625600" y="0"/>
                </a:lnTo>
                <a:lnTo>
                  <a:pt x="16256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5E81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508000" y="5981700"/>
            <a:ext cx="1546860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3600" b="1" dirty="0">
                <a:solidFill>
                  <a:srgbClr val="E0E2E5">
                    <a:alpha val="9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CLIP与AF-CLIP的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3600" b="1" dirty="0">
                <a:solidFill>
                  <a:srgbClr val="E0E2E5">
                    <a:alpha val="9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零-shot应用探索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39750" y="79375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3578" y="25003"/>
                </a:moveTo>
                <a:cubicBezTo>
                  <a:pt x="53578" y="11207"/>
                  <a:pt x="64785" y="0"/>
                  <a:pt x="78581" y="0"/>
                </a:cubicBezTo>
                <a:lnTo>
                  <a:pt x="89297" y="0"/>
                </a:lnTo>
                <a:cubicBezTo>
                  <a:pt x="97200" y="0"/>
                  <a:pt x="103584" y="6385"/>
                  <a:pt x="103584" y="14288"/>
                </a:cubicBezTo>
                <a:lnTo>
                  <a:pt x="103584" y="214313"/>
                </a:lnTo>
                <a:cubicBezTo>
                  <a:pt x="103584" y="222215"/>
                  <a:pt x="97200" y="228600"/>
                  <a:pt x="89297" y="228600"/>
                </a:cubicBezTo>
                <a:lnTo>
                  <a:pt x="75009" y="228600"/>
                </a:lnTo>
                <a:cubicBezTo>
                  <a:pt x="61704" y="228600"/>
                  <a:pt x="50497" y="219492"/>
                  <a:pt x="47327" y="207169"/>
                </a:cubicBezTo>
                <a:cubicBezTo>
                  <a:pt x="47015" y="207169"/>
                  <a:pt x="46747" y="207169"/>
                  <a:pt x="46434" y="207169"/>
                </a:cubicBezTo>
                <a:cubicBezTo>
                  <a:pt x="26700" y="207169"/>
                  <a:pt x="10716" y="191185"/>
                  <a:pt x="10716" y="171450"/>
                </a:cubicBezTo>
                <a:cubicBezTo>
                  <a:pt x="10716" y="163413"/>
                  <a:pt x="13395" y="156002"/>
                  <a:pt x="17859" y="150019"/>
                </a:cubicBezTo>
                <a:cubicBezTo>
                  <a:pt x="9198" y="143500"/>
                  <a:pt x="3572" y="133142"/>
                  <a:pt x="3572" y="121444"/>
                </a:cubicBezTo>
                <a:cubicBezTo>
                  <a:pt x="3572" y="107647"/>
                  <a:pt x="11430" y="95637"/>
                  <a:pt x="22860" y="89699"/>
                </a:cubicBezTo>
                <a:cubicBezTo>
                  <a:pt x="19690" y="84341"/>
                  <a:pt x="17859" y="78090"/>
                  <a:pt x="17859" y="71438"/>
                </a:cubicBezTo>
                <a:cubicBezTo>
                  <a:pt x="17859" y="51703"/>
                  <a:pt x="33844" y="35719"/>
                  <a:pt x="53578" y="35719"/>
                </a:cubicBezTo>
                <a:lnTo>
                  <a:pt x="53578" y="25003"/>
                </a:lnTo>
                <a:close/>
                <a:moveTo>
                  <a:pt x="175022" y="25003"/>
                </a:moveTo>
                <a:lnTo>
                  <a:pt x="175022" y="35719"/>
                </a:lnTo>
                <a:cubicBezTo>
                  <a:pt x="194756" y="35719"/>
                  <a:pt x="210741" y="51703"/>
                  <a:pt x="210741" y="71438"/>
                </a:cubicBezTo>
                <a:cubicBezTo>
                  <a:pt x="210741" y="78135"/>
                  <a:pt x="208910" y="84386"/>
                  <a:pt x="205740" y="89699"/>
                </a:cubicBezTo>
                <a:cubicBezTo>
                  <a:pt x="217215" y="95637"/>
                  <a:pt x="225028" y="107603"/>
                  <a:pt x="225028" y="121444"/>
                </a:cubicBezTo>
                <a:cubicBezTo>
                  <a:pt x="225028" y="133142"/>
                  <a:pt x="219402" y="143500"/>
                  <a:pt x="210741" y="150019"/>
                </a:cubicBezTo>
                <a:cubicBezTo>
                  <a:pt x="215205" y="156002"/>
                  <a:pt x="217884" y="163413"/>
                  <a:pt x="217884" y="171450"/>
                </a:cubicBezTo>
                <a:cubicBezTo>
                  <a:pt x="217884" y="191185"/>
                  <a:pt x="201900" y="207169"/>
                  <a:pt x="182166" y="207169"/>
                </a:cubicBezTo>
                <a:cubicBezTo>
                  <a:pt x="181853" y="207169"/>
                  <a:pt x="181585" y="207169"/>
                  <a:pt x="181273" y="207169"/>
                </a:cubicBezTo>
                <a:cubicBezTo>
                  <a:pt x="178103" y="219492"/>
                  <a:pt x="166896" y="228600"/>
                  <a:pt x="153591" y="228600"/>
                </a:cubicBezTo>
                <a:lnTo>
                  <a:pt x="139303" y="228600"/>
                </a:lnTo>
                <a:cubicBezTo>
                  <a:pt x="131400" y="228600"/>
                  <a:pt x="125016" y="222215"/>
                  <a:pt x="125016" y="214313"/>
                </a:cubicBezTo>
                <a:lnTo>
                  <a:pt x="125016" y="14288"/>
                </a:lnTo>
                <a:cubicBezTo>
                  <a:pt x="125016" y="6385"/>
                  <a:pt x="131400" y="0"/>
                  <a:pt x="139303" y="0"/>
                </a:cubicBezTo>
                <a:lnTo>
                  <a:pt x="150019" y="0"/>
                </a:lnTo>
                <a:cubicBezTo>
                  <a:pt x="163815" y="0"/>
                  <a:pt x="175022" y="11207"/>
                  <a:pt x="175022" y="25003"/>
                </a:cubicBezTo>
                <a:close/>
              </a:path>
            </a:pathLst>
          </a:custGeom>
          <a:solidFill>
            <a:srgbClr val="5E81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895350" y="7874000"/>
            <a:ext cx="1485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前沿技术报告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571750" y="7950200"/>
            <a:ext cx="12700" cy="203200"/>
          </a:xfrm>
          <a:custGeom>
            <a:avLst/>
            <a:gdLst/>
            <a:ahLst/>
            <a:cxnLst/>
            <a:rect l="l" t="t" r="r" b="b"/>
            <a:pathLst>
              <a:path w="12700" h="203200">
                <a:moveTo>
                  <a:pt x="0" y="0"/>
                </a:moveTo>
                <a:lnTo>
                  <a:pt x="12700" y="0"/>
                </a:lnTo>
                <a:lnTo>
                  <a:pt x="12700" y="203200"/>
                </a:lnTo>
                <a:lnTo>
                  <a:pt x="0" y="203200"/>
                </a:lnTo>
                <a:lnTo>
                  <a:pt x="0" y="0"/>
                </a:lnTo>
                <a:close/>
              </a:path>
            </a:pathLst>
          </a:custGeom>
          <a:solidFill>
            <a:srgbClr val="4A4E5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9"/>
          <p:cNvSpPr/>
          <p:nvPr/>
        </p:nvSpPr>
        <p:spPr>
          <a:xfrm>
            <a:off x="2935288" y="79375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57150" y="0"/>
                </a:moveTo>
                <a:cubicBezTo>
                  <a:pt x="49247" y="0"/>
                  <a:pt x="42863" y="6385"/>
                  <a:pt x="42863" y="14288"/>
                </a:cubicBezTo>
                <a:lnTo>
                  <a:pt x="42863" y="28575"/>
                </a:lnTo>
                <a:lnTo>
                  <a:pt x="28575" y="28575"/>
                </a:lnTo>
                <a:cubicBezTo>
                  <a:pt x="12814" y="28575"/>
                  <a:pt x="0" y="41389"/>
                  <a:pt x="0" y="57150"/>
                </a:cubicBezTo>
                <a:lnTo>
                  <a:pt x="0" y="78581"/>
                </a:lnTo>
                <a:lnTo>
                  <a:pt x="200025" y="78581"/>
                </a:lnTo>
                <a:lnTo>
                  <a:pt x="200025" y="57150"/>
                </a:lnTo>
                <a:cubicBezTo>
                  <a:pt x="200025" y="41389"/>
                  <a:pt x="187211" y="28575"/>
                  <a:pt x="171450" y="28575"/>
                </a:cubicBezTo>
                <a:lnTo>
                  <a:pt x="157163" y="28575"/>
                </a:lnTo>
                <a:lnTo>
                  <a:pt x="157163" y="14288"/>
                </a:lnTo>
                <a:cubicBezTo>
                  <a:pt x="157163" y="6385"/>
                  <a:pt x="150778" y="0"/>
                  <a:pt x="142875" y="0"/>
                </a:cubicBezTo>
                <a:cubicBezTo>
                  <a:pt x="134972" y="0"/>
                  <a:pt x="128588" y="6385"/>
                  <a:pt x="128588" y="14288"/>
                </a:cubicBezTo>
                <a:lnTo>
                  <a:pt x="128588" y="28575"/>
                </a:lnTo>
                <a:lnTo>
                  <a:pt x="71438" y="28575"/>
                </a:lnTo>
                <a:lnTo>
                  <a:pt x="71438" y="14288"/>
                </a:lnTo>
                <a:cubicBezTo>
                  <a:pt x="71438" y="6385"/>
                  <a:pt x="65053" y="0"/>
                  <a:pt x="57150" y="0"/>
                </a:cubicBezTo>
                <a:close/>
                <a:moveTo>
                  <a:pt x="0" y="100013"/>
                </a:moveTo>
                <a:lnTo>
                  <a:pt x="0" y="185738"/>
                </a:lnTo>
                <a:cubicBezTo>
                  <a:pt x="0" y="201498"/>
                  <a:pt x="12814" y="214313"/>
                  <a:pt x="28575" y="214313"/>
                </a:cubicBezTo>
                <a:lnTo>
                  <a:pt x="171450" y="214313"/>
                </a:lnTo>
                <a:cubicBezTo>
                  <a:pt x="187211" y="214313"/>
                  <a:pt x="200025" y="201498"/>
                  <a:pt x="200025" y="185738"/>
                </a:cubicBezTo>
                <a:lnTo>
                  <a:pt x="200025" y="100013"/>
                </a:lnTo>
                <a:lnTo>
                  <a:pt x="0" y="100013"/>
                </a:lnTo>
                <a:close/>
              </a:path>
            </a:pathLst>
          </a:custGeom>
          <a:solidFill>
            <a:srgbClr val="5E81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0"/>
          <p:cNvSpPr/>
          <p:nvPr/>
        </p:nvSpPr>
        <p:spPr>
          <a:xfrm>
            <a:off x="3276600" y="7874000"/>
            <a:ext cx="927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2025.12</a:t>
            </a:r>
            <a:endParaRPr lang="en-US" sz="1600" dirty="0"/>
          </a:p>
        </p:txBody>
      </p:sp>
      <p:sp>
        <p:nvSpPr>
          <p:cNvPr id="17" name="Text 2">
            <a:extLst>
              <a:ext uri="{FF2B5EF4-FFF2-40B4-BE49-F238E27FC236}">
                <a16:creationId xmlns:a16="http://schemas.microsoft.com/office/drawing/2014/main" id="{C78E4D25-548C-0C9D-E6BA-D2E6A13B86DC}"/>
              </a:ext>
            </a:extLst>
          </p:cNvPr>
          <p:cNvSpPr/>
          <p:nvPr/>
        </p:nvSpPr>
        <p:spPr>
          <a:xfrm>
            <a:off x="1473200" y="908050"/>
            <a:ext cx="4152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kern="0" spc="420" dirty="0">
                <a:solidFill>
                  <a:srgbClr val="5E81A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Cross-Modal Vision Models</a:t>
            </a:r>
            <a:endParaRPr lang="en-US" sz="160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0369080-C5E3-7CDB-F939-624F75311B72}"/>
              </a:ext>
            </a:extLst>
          </p:cNvPr>
          <p:cNvSpPr txBox="1"/>
          <p:nvPr/>
        </p:nvSpPr>
        <p:spPr>
          <a:xfrm>
            <a:off x="4841270" y="7374996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组长：姚俊杰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EADE8BF-233F-F479-260D-8ED11AD70702}"/>
              </a:ext>
            </a:extLst>
          </p:cNvPr>
          <p:cNvSpPr txBox="1"/>
          <p:nvPr/>
        </p:nvSpPr>
        <p:spPr>
          <a:xfrm>
            <a:off x="4841270" y="7856696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组员：万新阳、林子越</a:t>
            </a: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" y="628650"/>
            <a:ext cx="609600" cy="12700"/>
          </a:xfrm>
          <a:custGeom>
            <a:avLst/>
            <a:gdLst/>
            <a:ahLst/>
            <a:cxnLst/>
            <a:rect l="l" t="t" r="r" b="b"/>
            <a:pathLst>
              <a:path w="609600" h="12700">
                <a:moveTo>
                  <a:pt x="0" y="0"/>
                </a:moveTo>
                <a:lnTo>
                  <a:pt x="609600" y="0"/>
                </a:lnTo>
                <a:lnTo>
                  <a:pt x="609600" y="12700"/>
                </a:lnTo>
                <a:lnTo>
                  <a:pt x="0" y="12700"/>
                </a:lnTo>
                <a:lnTo>
                  <a:pt x="0" y="0"/>
                </a:lnTo>
                <a:close/>
              </a:path>
            </a:pathLst>
          </a:custGeom>
          <a:solidFill>
            <a:srgbClr val="5E81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1270000" y="508000"/>
            <a:ext cx="1104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kern="0" spc="70" dirty="0">
                <a:solidFill>
                  <a:srgbClr val="5E81A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Contents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8000" y="914400"/>
            <a:ext cx="15544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内容概览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33400" y="1930400"/>
            <a:ext cx="7518400" cy="3276600"/>
          </a:xfrm>
          <a:custGeom>
            <a:avLst/>
            <a:gdLst/>
            <a:ahLst/>
            <a:cxnLst/>
            <a:rect l="l" t="t" r="r" b="b"/>
            <a:pathLst>
              <a:path w="7518400" h="3276600">
                <a:moveTo>
                  <a:pt x="0" y="0"/>
                </a:moveTo>
                <a:lnTo>
                  <a:pt x="7518400" y="0"/>
                </a:lnTo>
                <a:lnTo>
                  <a:pt x="7518400" y="3276600"/>
                </a:lnTo>
                <a:lnTo>
                  <a:pt x="0" y="3276600"/>
                </a:lnTo>
                <a:lnTo>
                  <a:pt x="0" y="0"/>
                </a:lnTo>
                <a:close/>
              </a:path>
            </a:pathLst>
          </a:custGeom>
          <a:solidFill>
            <a:srgbClr val="4A4E56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533400" y="1930400"/>
            <a:ext cx="50800" cy="3276600"/>
          </a:xfrm>
          <a:custGeom>
            <a:avLst/>
            <a:gdLst/>
            <a:ahLst/>
            <a:cxnLst/>
            <a:rect l="l" t="t" r="r" b="b"/>
            <a:pathLst>
              <a:path w="50800" h="3276600">
                <a:moveTo>
                  <a:pt x="0" y="0"/>
                </a:moveTo>
                <a:lnTo>
                  <a:pt x="50800" y="0"/>
                </a:lnTo>
                <a:lnTo>
                  <a:pt x="50800" y="3276600"/>
                </a:lnTo>
                <a:lnTo>
                  <a:pt x="0" y="3276600"/>
                </a:lnTo>
                <a:lnTo>
                  <a:pt x="0" y="0"/>
                </a:lnTo>
                <a:close/>
              </a:path>
            </a:pathLst>
          </a:custGeom>
          <a:solidFill>
            <a:srgbClr val="5E81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863600" y="22860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0" y="0"/>
                </a:moveTo>
                <a:lnTo>
                  <a:pt x="812800" y="0"/>
                </a:lnTo>
                <a:lnTo>
                  <a:pt x="812800" y="812800"/>
                </a:lnTo>
                <a:lnTo>
                  <a:pt x="0" y="812800"/>
                </a:lnTo>
                <a:lnTo>
                  <a:pt x="0" y="0"/>
                </a:lnTo>
                <a:close/>
              </a:path>
            </a:pathLst>
          </a:custGeom>
          <a:solidFill>
            <a:srgbClr val="5E81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768350" y="2286000"/>
            <a:ext cx="10033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879600" y="2235200"/>
            <a:ext cx="2095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前沿背景与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研究意义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29600" y="1930400"/>
            <a:ext cx="7518400" cy="3276600"/>
          </a:xfrm>
          <a:custGeom>
            <a:avLst/>
            <a:gdLst/>
            <a:ahLst/>
            <a:cxnLst/>
            <a:rect l="l" t="t" r="r" b="b"/>
            <a:pathLst>
              <a:path w="7518400" h="3276600">
                <a:moveTo>
                  <a:pt x="0" y="0"/>
                </a:moveTo>
                <a:lnTo>
                  <a:pt x="7518400" y="0"/>
                </a:lnTo>
                <a:lnTo>
                  <a:pt x="7518400" y="3276600"/>
                </a:lnTo>
                <a:lnTo>
                  <a:pt x="0" y="3276600"/>
                </a:lnTo>
                <a:lnTo>
                  <a:pt x="0" y="0"/>
                </a:lnTo>
                <a:close/>
              </a:path>
            </a:pathLst>
          </a:custGeom>
          <a:solidFill>
            <a:srgbClr val="4A4E56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8229600" y="1930400"/>
            <a:ext cx="50800" cy="3276600"/>
          </a:xfrm>
          <a:custGeom>
            <a:avLst/>
            <a:gdLst/>
            <a:ahLst/>
            <a:cxnLst/>
            <a:rect l="l" t="t" r="r" b="b"/>
            <a:pathLst>
              <a:path w="50800" h="3276600">
                <a:moveTo>
                  <a:pt x="0" y="0"/>
                </a:moveTo>
                <a:lnTo>
                  <a:pt x="50800" y="0"/>
                </a:lnTo>
                <a:lnTo>
                  <a:pt x="50800" y="3276600"/>
                </a:lnTo>
                <a:lnTo>
                  <a:pt x="0" y="3276600"/>
                </a:lnTo>
                <a:lnTo>
                  <a:pt x="0" y="0"/>
                </a:lnTo>
                <a:close/>
              </a:path>
            </a:pathLst>
          </a:custGeom>
          <a:solidFill>
            <a:srgbClr val="5E81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8559800" y="22352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0" y="0"/>
                </a:moveTo>
                <a:lnTo>
                  <a:pt x="812800" y="0"/>
                </a:lnTo>
                <a:lnTo>
                  <a:pt x="812800" y="812800"/>
                </a:lnTo>
                <a:lnTo>
                  <a:pt x="0" y="812800"/>
                </a:lnTo>
                <a:lnTo>
                  <a:pt x="0" y="0"/>
                </a:lnTo>
                <a:close/>
              </a:path>
            </a:pathLst>
          </a:custGeom>
          <a:solidFill>
            <a:srgbClr val="5E81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8464550" y="2235200"/>
            <a:ext cx="10033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575800" y="2413000"/>
            <a:ext cx="171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问题定义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559800" y="3251200"/>
            <a:ext cx="69977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传统模型的痛点与核心问题目标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ages.stockcake.com/63d2ab73072f53ae127b84608f88a5e0e40de2b7.jpg"/>
          <p:cNvPicPr>
            <a:picLocks noChangeAspect="1"/>
          </p:cNvPicPr>
          <p:nvPr/>
        </p:nvPicPr>
        <p:blipFill>
          <a:blip r:embed="rId3">
            <a:alphaModFix amt="30000"/>
          </a:blip>
          <a:srcRect t="21875" b="21875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/>
              </a:gs>
              <a:gs pos="50000">
                <a:srgbClr val="1A1D21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1"/>
          <p:cNvSpPr/>
          <p:nvPr/>
        </p:nvSpPr>
        <p:spPr>
          <a:xfrm>
            <a:off x="508000" y="1722438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0" y="0"/>
                </a:moveTo>
                <a:lnTo>
                  <a:pt x="1219200" y="0"/>
                </a:lnTo>
                <a:lnTo>
                  <a:pt x="1219200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5E81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355600" y="1722438"/>
            <a:ext cx="15240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032000" y="2325688"/>
            <a:ext cx="5295900" cy="12700"/>
          </a:xfrm>
          <a:custGeom>
            <a:avLst/>
            <a:gdLst/>
            <a:ahLst/>
            <a:cxnLst/>
            <a:rect l="l" t="t" r="r" b="b"/>
            <a:pathLst>
              <a:path w="5295900" h="12700">
                <a:moveTo>
                  <a:pt x="0" y="0"/>
                </a:moveTo>
                <a:lnTo>
                  <a:pt x="5295900" y="0"/>
                </a:lnTo>
                <a:lnTo>
                  <a:pt x="5295900" y="12700"/>
                </a:lnTo>
                <a:lnTo>
                  <a:pt x="0" y="12700"/>
                </a:lnTo>
                <a:lnTo>
                  <a:pt x="0" y="0"/>
                </a:lnTo>
                <a:close/>
              </a:path>
            </a:pathLst>
          </a:custGeom>
          <a:solidFill>
            <a:srgbClr val="5E81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4"/>
          <p:cNvSpPr/>
          <p:nvPr/>
        </p:nvSpPr>
        <p:spPr>
          <a:xfrm>
            <a:off x="508000" y="3348038"/>
            <a:ext cx="72771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前沿背景与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研究意义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" y="628650"/>
            <a:ext cx="508000" cy="12700"/>
          </a:xfrm>
          <a:custGeom>
            <a:avLst/>
            <a:gdLst/>
            <a:ahLst/>
            <a:cxnLst/>
            <a:rect l="l" t="t" r="r" b="b"/>
            <a:pathLst>
              <a:path w="508000" h="12700">
                <a:moveTo>
                  <a:pt x="0" y="0"/>
                </a:moveTo>
                <a:lnTo>
                  <a:pt x="508000" y="0"/>
                </a:lnTo>
                <a:lnTo>
                  <a:pt x="508000" y="12700"/>
                </a:lnTo>
                <a:lnTo>
                  <a:pt x="0" y="12700"/>
                </a:lnTo>
                <a:lnTo>
                  <a:pt x="0" y="0"/>
                </a:lnTo>
                <a:close/>
              </a:path>
            </a:pathLst>
          </a:custGeom>
          <a:solidFill>
            <a:srgbClr val="5E81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08000" y="8636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zh-CN" altLang="en-US" sz="36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</a:rPr>
              <a:t>前沿背景与研究意义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33400" y="1676400"/>
            <a:ext cx="4914900" cy="3378200"/>
          </a:xfrm>
          <a:custGeom>
            <a:avLst/>
            <a:gdLst/>
            <a:ahLst/>
            <a:cxnLst/>
            <a:rect l="l" t="t" r="r" b="b"/>
            <a:pathLst>
              <a:path w="4914900" h="3378200">
                <a:moveTo>
                  <a:pt x="0" y="0"/>
                </a:moveTo>
                <a:lnTo>
                  <a:pt x="4914900" y="0"/>
                </a:lnTo>
                <a:lnTo>
                  <a:pt x="4914900" y="3378200"/>
                </a:lnTo>
                <a:lnTo>
                  <a:pt x="0" y="3378200"/>
                </a:lnTo>
                <a:lnTo>
                  <a:pt x="0" y="0"/>
                </a:lnTo>
                <a:close/>
              </a:path>
            </a:pathLst>
          </a:custGeom>
          <a:solidFill>
            <a:srgbClr val="4A4E56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533400" y="1676400"/>
            <a:ext cx="50800" cy="3378200"/>
          </a:xfrm>
          <a:custGeom>
            <a:avLst/>
            <a:gdLst/>
            <a:ahLst/>
            <a:cxnLst/>
            <a:rect l="l" t="t" r="r" b="b"/>
            <a:pathLst>
              <a:path w="50800" h="3378200">
                <a:moveTo>
                  <a:pt x="0" y="0"/>
                </a:moveTo>
                <a:lnTo>
                  <a:pt x="50800" y="0"/>
                </a:lnTo>
                <a:lnTo>
                  <a:pt x="50800" y="3378200"/>
                </a:lnTo>
                <a:lnTo>
                  <a:pt x="0" y="3378200"/>
                </a:lnTo>
                <a:lnTo>
                  <a:pt x="0" y="0"/>
                </a:lnTo>
                <a:close/>
              </a:path>
            </a:pathLst>
          </a:custGeom>
          <a:solidFill>
            <a:srgbClr val="5E81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812800" y="19304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0"/>
                </a:moveTo>
                <a:lnTo>
                  <a:pt x="609600" y="0"/>
                </a:lnTo>
                <a:lnTo>
                  <a:pt x="6096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5E81A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965200" y="2082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47625"/>
                </a:moveTo>
                <a:cubicBezTo>
                  <a:pt x="0" y="31849"/>
                  <a:pt x="12799" y="19050"/>
                  <a:pt x="28575" y="19050"/>
                </a:cubicBezTo>
                <a:lnTo>
                  <a:pt x="85725" y="19050"/>
                </a:lnTo>
                <a:cubicBezTo>
                  <a:pt x="101501" y="19050"/>
                  <a:pt x="114300" y="31849"/>
                  <a:pt x="114300" y="47625"/>
                </a:cubicBezTo>
                <a:lnTo>
                  <a:pt x="114300" y="57150"/>
                </a:lnTo>
                <a:lnTo>
                  <a:pt x="190500" y="57150"/>
                </a:lnTo>
                <a:lnTo>
                  <a:pt x="190500" y="47625"/>
                </a:lnTo>
                <a:cubicBezTo>
                  <a:pt x="190500" y="31849"/>
                  <a:pt x="203299" y="19050"/>
                  <a:pt x="219075" y="19050"/>
                </a:cubicBezTo>
                <a:lnTo>
                  <a:pt x="276225" y="19050"/>
                </a:lnTo>
                <a:cubicBezTo>
                  <a:pt x="292001" y="19050"/>
                  <a:pt x="304800" y="31849"/>
                  <a:pt x="304800" y="47625"/>
                </a:cubicBezTo>
                <a:lnTo>
                  <a:pt x="304800" y="104775"/>
                </a:lnTo>
                <a:cubicBezTo>
                  <a:pt x="304800" y="120551"/>
                  <a:pt x="292001" y="133350"/>
                  <a:pt x="276225" y="133350"/>
                </a:cubicBezTo>
                <a:lnTo>
                  <a:pt x="219075" y="133350"/>
                </a:lnTo>
                <a:cubicBezTo>
                  <a:pt x="203299" y="133350"/>
                  <a:pt x="190500" y="120551"/>
                  <a:pt x="190500" y="104775"/>
                </a:cubicBezTo>
                <a:lnTo>
                  <a:pt x="190500" y="95250"/>
                </a:lnTo>
                <a:lnTo>
                  <a:pt x="114300" y="95250"/>
                </a:lnTo>
                <a:lnTo>
                  <a:pt x="114300" y="104775"/>
                </a:lnTo>
                <a:cubicBezTo>
                  <a:pt x="114300" y="109121"/>
                  <a:pt x="113288" y="113288"/>
                  <a:pt x="111562" y="116979"/>
                </a:cubicBezTo>
                <a:lnTo>
                  <a:pt x="152400" y="171450"/>
                </a:lnTo>
                <a:lnTo>
                  <a:pt x="200025" y="171450"/>
                </a:lnTo>
                <a:cubicBezTo>
                  <a:pt x="215801" y="171450"/>
                  <a:pt x="228600" y="184249"/>
                  <a:pt x="228600" y="200025"/>
                </a:cubicBezTo>
                <a:lnTo>
                  <a:pt x="228600" y="257175"/>
                </a:lnTo>
                <a:cubicBezTo>
                  <a:pt x="228600" y="272951"/>
                  <a:pt x="215801" y="285750"/>
                  <a:pt x="200025" y="285750"/>
                </a:cubicBezTo>
                <a:lnTo>
                  <a:pt x="142875" y="285750"/>
                </a:lnTo>
                <a:cubicBezTo>
                  <a:pt x="127099" y="285750"/>
                  <a:pt x="114300" y="272951"/>
                  <a:pt x="114300" y="257175"/>
                </a:cubicBezTo>
                <a:lnTo>
                  <a:pt x="114300" y="200025"/>
                </a:lnTo>
                <a:cubicBezTo>
                  <a:pt x="114300" y="195679"/>
                  <a:pt x="115312" y="191512"/>
                  <a:pt x="117038" y="187821"/>
                </a:cubicBezTo>
                <a:lnTo>
                  <a:pt x="76200" y="133350"/>
                </a:lnTo>
                <a:lnTo>
                  <a:pt x="28575" y="133350"/>
                </a:lnTo>
                <a:cubicBezTo>
                  <a:pt x="12799" y="133350"/>
                  <a:pt x="0" y="120551"/>
                  <a:pt x="0" y="104775"/>
                </a:cubicBezTo>
                <a:lnTo>
                  <a:pt x="0" y="47625"/>
                </a:lnTo>
                <a:close/>
              </a:path>
            </a:pathLst>
          </a:custGeom>
          <a:solidFill>
            <a:srgbClr val="5E81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574800" y="2057400"/>
            <a:ext cx="1397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zh-CN" altLang="en-US" sz="2000" dirty="0">
                <a:solidFill>
                  <a:schemeClr val="bg1"/>
                </a:solidFill>
              </a:rPr>
              <a:t>传统视觉模型的局限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812800" y="2743200"/>
            <a:ext cx="448310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zh-CN" altLang="en-US" sz="1600" dirty="0">
                <a:solidFill>
                  <a:schemeClr val="bg1"/>
                </a:solidFill>
              </a:rPr>
              <a:t>长期以来，视觉</a:t>
            </a:r>
            <a:r>
              <a:rPr lang="en-US" altLang="zh-CN" sz="1600" dirty="0">
                <a:solidFill>
                  <a:schemeClr val="bg1"/>
                </a:solidFill>
              </a:rPr>
              <a:t>AI</a:t>
            </a:r>
            <a:r>
              <a:rPr lang="zh-CN" altLang="en-US" sz="1600" dirty="0">
                <a:solidFill>
                  <a:schemeClr val="bg1"/>
                </a:solidFill>
              </a:rPr>
              <a:t>高度依赖人工标注数据，导致在工业质检、医疗诊断等高成本场景难以落地 ；且模型泛化能力受限，难以适配新任务 。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812800" y="4389969"/>
            <a:ext cx="4381500" cy="8467"/>
          </a:xfrm>
          <a:custGeom>
            <a:avLst/>
            <a:gdLst/>
            <a:ahLst/>
            <a:cxnLst/>
            <a:rect l="l" t="t" r="r" b="b"/>
            <a:pathLst>
              <a:path w="4381500" h="8467">
                <a:moveTo>
                  <a:pt x="0" y="0"/>
                </a:moveTo>
                <a:lnTo>
                  <a:pt x="4381500" y="0"/>
                </a:lnTo>
                <a:lnTo>
                  <a:pt x="4381500" y="8467"/>
                </a:lnTo>
                <a:lnTo>
                  <a:pt x="0" y="8467"/>
                </a:lnTo>
                <a:lnTo>
                  <a:pt x="0" y="0"/>
                </a:lnTo>
                <a:close/>
              </a:path>
            </a:pathLst>
          </a:custGeom>
          <a:solidFill>
            <a:srgbClr val="4A4E5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860425" y="4580468"/>
            <a:ext cx="133350" cy="177800"/>
          </a:xfrm>
          <a:custGeom>
            <a:avLst/>
            <a:gdLst/>
            <a:ahLst/>
            <a:cxnLst/>
            <a:rect l="l" t="t" r="r" b="b"/>
            <a:pathLst>
              <a:path w="133350" h="177800">
                <a:moveTo>
                  <a:pt x="101714" y="133350"/>
                </a:moveTo>
                <a:cubicBezTo>
                  <a:pt x="104249" y="125606"/>
                  <a:pt x="109319" y="118591"/>
                  <a:pt x="115049" y="112549"/>
                </a:cubicBezTo>
                <a:cubicBezTo>
                  <a:pt x="126405" y="100603"/>
                  <a:pt x="133350" y="84455"/>
                  <a:pt x="133350" y="66675"/>
                </a:cubicBezTo>
                <a:cubicBezTo>
                  <a:pt x="133350" y="29865"/>
                  <a:pt x="103485" y="0"/>
                  <a:pt x="66675" y="0"/>
                </a:cubicBezTo>
                <a:cubicBezTo>
                  <a:pt x="29865" y="0"/>
                  <a:pt x="0" y="29865"/>
                  <a:pt x="0" y="66675"/>
                </a:cubicBezTo>
                <a:cubicBezTo>
                  <a:pt x="0" y="84455"/>
                  <a:pt x="6945" y="100603"/>
                  <a:pt x="18301" y="112549"/>
                </a:cubicBezTo>
                <a:cubicBezTo>
                  <a:pt x="24031" y="118591"/>
                  <a:pt x="29136" y="125606"/>
                  <a:pt x="31636" y="133350"/>
                </a:cubicBezTo>
                <a:lnTo>
                  <a:pt x="101679" y="133350"/>
                </a:lnTo>
                <a:close/>
                <a:moveTo>
                  <a:pt x="100013" y="150019"/>
                </a:moveTo>
                <a:lnTo>
                  <a:pt x="33337" y="150019"/>
                </a:lnTo>
                <a:lnTo>
                  <a:pt x="33337" y="155575"/>
                </a:lnTo>
                <a:cubicBezTo>
                  <a:pt x="33337" y="170924"/>
                  <a:pt x="45770" y="183356"/>
                  <a:pt x="61119" y="183356"/>
                </a:cubicBezTo>
                <a:lnTo>
                  <a:pt x="72231" y="183356"/>
                </a:lnTo>
                <a:cubicBezTo>
                  <a:pt x="87580" y="183356"/>
                  <a:pt x="100013" y="170924"/>
                  <a:pt x="100013" y="155575"/>
                </a:cubicBezTo>
                <a:lnTo>
                  <a:pt x="100013" y="150019"/>
                </a:lnTo>
                <a:close/>
                <a:moveTo>
                  <a:pt x="63897" y="38894"/>
                </a:moveTo>
                <a:cubicBezTo>
                  <a:pt x="50076" y="38894"/>
                  <a:pt x="38894" y="50076"/>
                  <a:pt x="38894" y="63897"/>
                </a:cubicBezTo>
                <a:cubicBezTo>
                  <a:pt x="38894" y="68516"/>
                  <a:pt x="35178" y="72231"/>
                  <a:pt x="30559" y="72231"/>
                </a:cubicBezTo>
                <a:cubicBezTo>
                  <a:pt x="25941" y="72231"/>
                  <a:pt x="22225" y="68516"/>
                  <a:pt x="22225" y="63897"/>
                </a:cubicBezTo>
                <a:cubicBezTo>
                  <a:pt x="22225" y="40873"/>
                  <a:pt x="40873" y="22225"/>
                  <a:pt x="63897" y="22225"/>
                </a:cubicBezTo>
                <a:cubicBezTo>
                  <a:pt x="68516" y="22225"/>
                  <a:pt x="72231" y="25941"/>
                  <a:pt x="72231" y="30559"/>
                </a:cubicBezTo>
                <a:cubicBezTo>
                  <a:pt x="72231" y="35178"/>
                  <a:pt x="68516" y="38894"/>
                  <a:pt x="63897" y="38894"/>
                </a:cubicBezTo>
                <a:close/>
              </a:path>
            </a:pathLst>
          </a:custGeom>
          <a:solidFill>
            <a:srgbClr val="5E81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5681133" y="1636486"/>
            <a:ext cx="4914900" cy="3378200"/>
          </a:xfrm>
          <a:custGeom>
            <a:avLst/>
            <a:gdLst/>
            <a:ahLst/>
            <a:cxnLst/>
            <a:rect l="l" t="t" r="r" b="b"/>
            <a:pathLst>
              <a:path w="4914900" h="3378200">
                <a:moveTo>
                  <a:pt x="0" y="0"/>
                </a:moveTo>
                <a:lnTo>
                  <a:pt x="4914900" y="0"/>
                </a:lnTo>
                <a:lnTo>
                  <a:pt x="4914900" y="3378200"/>
                </a:lnTo>
                <a:lnTo>
                  <a:pt x="0" y="3378200"/>
                </a:lnTo>
                <a:lnTo>
                  <a:pt x="0" y="0"/>
                </a:lnTo>
                <a:close/>
              </a:path>
            </a:pathLst>
          </a:custGeom>
          <a:solidFill>
            <a:srgbClr val="4A4E56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5681133" y="1676400"/>
            <a:ext cx="50800" cy="3378200"/>
          </a:xfrm>
          <a:custGeom>
            <a:avLst/>
            <a:gdLst/>
            <a:ahLst/>
            <a:cxnLst/>
            <a:rect l="l" t="t" r="r" b="b"/>
            <a:pathLst>
              <a:path w="50800" h="3378200">
                <a:moveTo>
                  <a:pt x="0" y="0"/>
                </a:moveTo>
                <a:lnTo>
                  <a:pt x="50800" y="0"/>
                </a:lnTo>
                <a:lnTo>
                  <a:pt x="50800" y="3378200"/>
                </a:lnTo>
                <a:lnTo>
                  <a:pt x="0" y="3378200"/>
                </a:lnTo>
                <a:lnTo>
                  <a:pt x="0" y="0"/>
                </a:lnTo>
                <a:close/>
              </a:path>
            </a:pathLst>
          </a:custGeom>
          <a:solidFill>
            <a:srgbClr val="5E81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5960533" y="19304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0"/>
                </a:moveTo>
                <a:lnTo>
                  <a:pt x="609600" y="0"/>
                </a:lnTo>
                <a:lnTo>
                  <a:pt x="6096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5E81A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6112933" y="2082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66700" y="152400"/>
                </a:moveTo>
                <a:cubicBezTo>
                  <a:pt x="266700" y="89316"/>
                  <a:pt x="215484" y="38100"/>
                  <a:pt x="152400" y="38100"/>
                </a:cubicBezTo>
                <a:cubicBezTo>
                  <a:pt x="89316" y="38100"/>
                  <a:pt x="38100" y="89316"/>
                  <a:pt x="38100" y="152400"/>
                </a:cubicBezTo>
                <a:cubicBezTo>
                  <a:pt x="38100" y="215484"/>
                  <a:pt x="89316" y="266700"/>
                  <a:pt x="152400" y="266700"/>
                </a:cubicBezTo>
                <a:cubicBezTo>
                  <a:pt x="215484" y="266700"/>
                  <a:pt x="266700" y="215484"/>
                  <a:pt x="266700" y="152400"/>
                </a:cubicBezTo>
                <a:close/>
                <a:moveTo>
                  <a:pt x="0" y="152400"/>
                </a:moveTo>
                <a:cubicBezTo>
                  <a:pt x="0" y="68288"/>
                  <a:pt x="68288" y="0"/>
                  <a:pt x="152400" y="0"/>
                </a:cubicBezTo>
                <a:cubicBezTo>
                  <a:pt x="236512" y="0"/>
                  <a:pt x="304800" y="68288"/>
                  <a:pt x="304800" y="152400"/>
                </a:cubicBezTo>
                <a:cubicBezTo>
                  <a:pt x="304800" y="236512"/>
                  <a:pt x="236512" y="304800"/>
                  <a:pt x="152400" y="304800"/>
                </a:cubicBezTo>
                <a:cubicBezTo>
                  <a:pt x="68288" y="304800"/>
                  <a:pt x="0" y="236512"/>
                  <a:pt x="0" y="152400"/>
                </a:cubicBezTo>
                <a:close/>
                <a:moveTo>
                  <a:pt x="152400" y="200025"/>
                </a:moveTo>
                <a:cubicBezTo>
                  <a:pt x="178685" y="200025"/>
                  <a:pt x="200025" y="178685"/>
                  <a:pt x="200025" y="152400"/>
                </a:cubicBezTo>
                <a:cubicBezTo>
                  <a:pt x="200025" y="126115"/>
                  <a:pt x="178685" y="104775"/>
                  <a:pt x="152400" y="104775"/>
                </a:cubicBezTo>
                <a:cubicBezTo>
                  <a:pt x="126115" y="104775"/>
                  <a:pt x="104775" y="126115"/>
                  <a:pt x="104775" y="152400"/>
                </a:cubicBezTo>
                <a:cubicBezTo>
                  <a:pt x="104775" y="178685"/>
                  <a:pt x="126115" y="200025"/>
                  <a:pt x="152400" y="200025"/>
                </a:cubicBezTo>
                <a:close/>
                <a:moveTo>
                  <a:pt x="152400" y="66675"/>
                </a:moveTo>
                <a:cubicBezTo>
                  <a:pt x="199713" y="66675"/>
                  <a:pt x="238125" y="105087"/>
                  <a:pt x="238125" y="152400"/>
                </a:cubicBezTo>
                <a:cubicBezTo>
                  <a:pt x="238125" y="199713"/>
                  <a:pt x="199713" y="238125"/>
                  <a:pt x="152400" y="238125"/>
                </a:cubicBezTo>
                <a:cubicBezTo>
                  <a:pt x="105087" y="238125"/>
                  <a:pt x="66675" y="199713"/>
                  <a:pt x="66675" y="152400"/>
                </a:cubicBezTo>
                <a:cubicBezTo>
                  <a:pt x="66675" y="105087"/>
                  <a:pt x="105087" y="66675"/>
                  <a:pt x="152400" y="66675"/>
                </a:cubicBezTo>
                <a:close/>
                <a:moveTo>
                  <a:pt x="133350" y="152400"/>
                </a:moveTo>
                <a:cubicBezTo>
                  <a:pt x="133350" y="141886"/>
                  <a:pt x="141886" y="133350"/>
                  <a:pt x="152400" y="133350"/>
                </a:cubicBezTo>
                <a:cubicBezTo>
                  <a:pt x="162914" y="133350"/>
                  <a:pt x="171450" y="141886"/>
                  <a:pt x="171450" y="152400"/>
                </a:cubicBezTo>
                <a:cubicBezTo>
                  <a:pt x="171450" y="162914"/>
                  <a:pt x="162914" y="171450"/>
                  <a:pt x="152400" y="171450"/>
                </a:cubicBezTo>
                <a:cubicBezTo>
                  <a:pt x="141886" y="171450"/>
                  <a:pt x="133350" y="162914"/>
                  <a:pt x="133350" y="152400"/>
                </a:cubicBezTo>
                <a:close/>
              </a:path>
            </a:pathLst>
          </a:custGeom>
          <a:solidFill>
            <a:srgbClr val="5E81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6722534" y="2057400"/>
            <a:ext cx="2425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zh-CN" altLang="en-US" sz="2000" dirty="0">
                <a:solidFill>
                  <a:schemeClr val="bg1"/>
                </a:solidFill>
              </a:rPr>
              <a:t>特征感知瓶颈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5960533" y="2743200"/>
            <a:ext cx="448310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zh-CN" altLang="en-US" sz="1600" dirty="0">
                <a:solidFill>
                  <a:schemeClr val="bg1"/>
                </a:solidFill>
              </a:rPr>
              <a:t>传统模型往往过度聚焦全局语义，对工业划痕或微小病灶等局部细微特征的敏感度极低 。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960533" y="4389969"/>
            <a:ext cx="4381500" cy="8467"/>
          </a:xfrm>
          <a:custGeom>
            <a:avLst/>
            <a:gdLst/>
            <a:ahLst/>
            <a:cxnLst/>
            <a:rect l="l" t="t" r="r" b="b"/>
            <a:pathLst>
              <a:path w="4381500" h="8467">
                <a:moveTo>
                  <a:pt x="0" y="0"/>
                </a:moveTo>
                <a:lnTo>
                  <a:pt x="4381500" y="0"/>
                </a:lnTo>
                <a:lnTo>
                  <a:pt x="4381500" y="8467"/>
                </a:lnTo>
                <a:lnTo>
                  <a:pt x="0" y="8467"/>
                </a:lnTo>
                <a:lnTo>
                  <a:pt x="0" y="0"/>
                </a:lnTo>
                <a:close/>
              </a:path>
            </a:pathLst>
          </a:custGeom>
          <a:solidFill>
            <a:srgbClr val="4A4E5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5985933" y="4580468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22225" y="22225"/>
                </a:moveTo>
                <a:cubicBezTo>
                  <a:pt x="22225" y="16078"/>
                  <a:pt x="17259" y="11112"/>
                  <a:pt x="11112" y="11112"/>
                </a:cubicBezTo>
                <a:cubicBezTo>
                  <a:pt x="4966" y="11112"/>
                  <a:pt x="0" y="16078"/>
                  <a:pt x="0" y="22225"/>
                </a:cubicBezTo>
                <a:lnTo>
                  <a:pt x="0" y="138906"/>
                </a:lnTo>
                <a:cubicBezTo>
                  <a:pt x="0" y="154255"/>
                  <a:pt x="12432" y="166688"/>
                  <a:pt x="27781" y="166688"/>
                </a:cubicBezTo>
                <a:lnTo>
                  <a:pt x="166688" y="166688"/>
                </a:lnTo>
                <a:cubicBezTo>
                  <a:pt x="172834" y="166688"/>
                  <a:pt x="177800" y="161722"/>
                  <a:pt x="177800" y="155575"/>
                </a:cubicBezTo>
                <a:cubicBezTo>
                  <a:pt x="177800" y="149428"/>
                  <a:pt x="172834" y="144463"/>
                  <a:pt x="166688" y="144463"/>
                </a:cubicBezTo>
                <a:lnTo>
                  <a:pt x="27781" y="144463"/>
                </a:lnTo>
                <a:cubicBezTo>
                  <a:pt x="24725" y="144463"/>
                  <a:pt x="22225" y="141962"/>
                  <a:pt x="22225" y="138906"/>
                </a:cubicBezTo>
                <a:lnTo>
                  <a:pt x="22225" y="22225"/>
                </a:lnTo>
                <a:close/>
                <a:moveTo>
                  <a:pt x="163423" y="52298"/>
                </a:moveTo>
                <a:cubicBezTo>
                  <a:pt x="167764" y="47957"/>
                  <a:pt x="167764" y="40908"/>
                  <a:pt x="163423" y="36567"/>
                </a:cubicBezTo>
                <a:cubicBezTo>
                  <a:pt x="159082" y="32226"/>
                  <a:pt x="152033" y="32226"/>
                  <a:pt x="147692" y="36567"/>
                </a:cubicBezTo>
                <a:lnTo>
                  <a:pt x="111125" y="73169"/>
                </a:lnTo>
                <a:lnTo>
                  <a:pt x="91192" y="53271"/>
                </a:lnTo>
                <a:cubicBezTo>
                  <a:pt x="86851" y="48930"/>
                  <a:pt x="79802" y="48930"/>
                  <a:pt x="75461" y="53271"/>
                </a:cubicBezTo>
                <a:lnTo>
                  <a:pt x="42123" y="86608"/>
                </a:lnTo>
                <a:cubicBezTo>
                  <a:pt x="37783" y="90949"/>
                  <a:pt x="37783" y="97998"/>
                  <a:pt x="42123" y="102339"/>
                </a:cubicBezTo>
                <a:cubicBezTo>
                  <a:pt x="46464" y="106680"/>
                  <a:pt x="53514" y="106680"/>
                  <a:pt x="57854" y="102339"/>
                </a:cubicBezTo>
                <a:lnTo>
                  <a:pt x="83344" y="76850"/>
                </a:lnTo>
                <a:lnTo>
                  <a:pt x="103277" y="96783"/>
                </a:lnTo>
                <a:cubicBezTo>
                  <a:pt x="107618" y="101124"/>
                  <a:pt x="114667" y="101124"/>
                  <a:pt x="119008" y="96783"/>
                </a:cubicBezTo>
                <a:lnTo>
                  <a:pt x="163458" y="52333"/>
                </a:lnTo>
                <a:close/>
              </a:path>
            </a:pathLst>
          </a:custGeom>
          <a:solidFill>
            <a:srgbClr val="5E81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10828867" y="1676400"/>
            <a:ext cx="4914900" cy="3378200"/>
          </a:xfrm>
          <a:custGeom>
            <a:avLst/>
            <a:gdLst/>
            <a:ahLst/>
            <a:cxnLst/>
            <a:rect l="l" t="t" r="r" b="b"/>
            <a:pathLst>
              <a:path w="4914900" h="3378200">
                <a:moveTo>
                  <a:pt x="0" y="0"/>
                </a:moveTo>
                <a:lnTo>
                  <a:pt x="4914900" y="0"/>
                </a:lnTo>
                <a:lnTo>
                  <a:pt x="4914900" y="3378200"/>
                </a:lnTo>
                <a:lnTo>
                  <a:pt x="0" y="3378200"/>
                </a:lnTo>
                <a:lnTo>
                  <a:pt x="0" y="0"/>
                </a:lnTo>
                <a:close/>
              </a:path>
            </a:pathLst>
          </a:custGeom>
          <a:solidFill>
            <a:srgbClr val="4A4E56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10828867" y="1676400"/>
            <a:ext cx="50800" cy="3378200"/>
          </a:xfrm>
          <a:custGeom>
            <a:avLst/>
            <a:gdLst/>
            <a:ahLst/>
            <a:cxnLst/>
            <a:rect l="l" t="t" r="r" b="b"/>
            <a:pathLst>
              <a:path w="50800" h="3378200">
                <a:moveTo>
                  <a:pt x="0" y="0"/>
                </a:moveTo>
                <a:lnTo>
                  <a:pt x="50800" y="0"/>
                </a:lnTo>
                <a:lnTo>
                  <a:pt x="50800" y="3378200"/>
                </a:lnTo>
                <a:lnTo>
                  <a:pt x="0" y="3378200"/>
                </a:lnTo>
                <a:lnTo>
                  <a:pt x="0" y="0"/>
                </a:lnTo>
                <a:close/>
              </a:path>
            </a:pathLst>
          </a:custGeom>
          <a:solidFill>
            <a:srgbClr val="5E81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11108267" y="19304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0"/>
                </a:moveTo>
                <a:lnTo>
                  <a:pt x="609600" y="0"/>
                </a:lnTo>
                <a:lnTo>
                  <a:pt x="6096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5E81A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11260667" y="2082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38410" y="3096"/>
                </a:moveTo>
                <a:cubicBezTo>
                  <a:pt x="147280" y="-1012"/>
                  <a:pt x="157520" y="-1012"/>
                  <a:pt x="166390" y="3096"/>
                </a:cubicBezTo>
                <a:lnTo>
                  <a:pt x="296525" y="63222"/>
                </a:lnTo>
                <a:cubicBezTo>
                  <a:pt x="301585" y="65544"/>
                  <a:pt x="304800" y="70604"/>
                  <a:pt x="304800" y="76200"/>
                </a:cubicBezTo>
                <a:cubicBezTo>
                  <a:pt x="304800" y="81796"/>
                  <a:pt x="301585" y="86856"/>
                  <a:pt x="296525" y="89178"/>
                </a:cubicBezTo>
                <a:lnTo>
                  <a:pt x="166390" y="149304"/>
                </a:lnTo>
                <a:cubicBezTo>
                  <a:pt x="157520" y="153412"/>
                  <a:pt x="147280" y="153412"/>
                  <a:pt x="138410" y="149304"/>
                </a:cubicBezTo>
                <a:lnTo>
                  <a:pt x="8275" y="89178"/>
                </a:lnTo>
                <a:cubicBezTo>
                  <a:pt x="3215" y="86797"/>
                  <a:pt x="0" y="81736"/>
                  <a:pt x="0" y="76200"/>
                </a:cubicBezTo>
                <a:cubicBezTo>
                  <a:pt x="0" y="70664"/>
                  <a:pt x="3215" y="65544"/>
                  <a:pt x="8275" y="63222"/>
                </a:cubicBezTo>
                <a:lnTo>
                  <a:pt x="138410" y="3096"/>
                </a:lnTo>
                <a:close/>
                <a:moveTo>
                  <a:pt x="28635" y="130016"/>
                </a:moveTo>
                <a:lnTo>
                  <a:pt x="126444" y="175200"/>
                </a:lnTo>
                <a:cubicBezTo>
                  <a:pt x="142935" y="182820"/>
                  <a:pt x="161925" y="182820"/>
                  <a:pt x="178415" y="175200"/>
                </a:cubicBezTo>
                <a:lnTo>
                  <a:pt x="276225" y="130016"/>
                </a:lnTo>
                <a:lnTo>
                  <a:pt x="296525" y="139422"/>
                </a:lnTo>
                <a:cubicBezTo>
                  <a:pt x="301585" y="141744"/>
                  <a:pt x="304800" y="146804"/>
                  <a:pt x="304800" y="152400"/>
                </a:cubicBezTo>
                <a:cubicBezTo>
                  <a:pt x="304800" y="157996"/>
                  <a:pt x="301585" y="163056"/>
                  <a:pt x="296525" y="165378"/>
                </a:cubicBezTo>
                <a:lnTo>
                  <a:pt x="166390" y="225504"/>
                </a:lnTo>
                <a:cubicBezTo>
                  <a:pt x="157520" y="229612"/>
                  <a:pt x="147280" y="229612"/>
                  <a:pt x="138410" y="225504"/>
                </a:cubicBezTo>
                <a:lnTo>
                  <a:pt x="8275" y="165378"/>
                </a:lnTo>
                <a:cubicBezTo>
                  <a:pt x="3215" y="162997"/>
                  <a:pt x="0" y="157936"/>
                  <a:pt x="0" y="152400"/>
                </a:cubicBezTo>
                <a:cubicBezTo>
                  <a:pt x="0" y="146864"/>
                  <a:pt x="3215" y="141744"/>
                  <a:pt x="8275" y="139422"/>
                </a:cubicBezTo>
                <a:lnTo>
                  <a:pt x="28575" y="130016"/>
                </a:lnTo>
                <a:close/>
                <a:moveTo>
                  <a:pt x="8275" y="215622"/>
                </a:moveTo>
                <a:lnTo>
                  <a:pt x="28575" y="206216"/>
                </a:lnTo>
                <a:lnTo>
                  <a:pt x="126385" y="251400"/>
                </a:lnTo>
                <a:cubicBezTo>
                  <a:pt x="142875" y="259020"/>
                  <a:pt x="161865" y="259020"/>
                  <a:pt x="178356" y="251400"/>
                </a:cubicBezTo>
                <a:lnTo>
                  <a:pt x="276165" y="206216"/>
                </a:lnTo>
                <a:lnTo>
                  <a:pt x="296466" y="215622"/>
                </a:lnTo>
                <a:cubicBezTo>
                  <a:pt x="301526" y="217944"/>
                  <a:pt x="304740" y="223004"/>
                  <a:pt x="304740" y="228600"/>
                </a:cubicBezTo>
                <a:cubicBezTo>
                  <a:pt x="304740" y="234196"/>
                  <a:pt x="301526" y="239256"/>
                  <a:pt x="296466" y="241578"/>
                </a:cubicBezTo>
                <a:lnTo>
                  <a:pt x="166330" y="301704"/>
                </a:lnTo>
                <a:cubicBezTo>
                  <a:pt x="157460" y="305812"/>
                  <a:pt x="147221" y="305812"/>
                  <a:pt x="138351" y="301704"/>
                </a:cubicBezTo>
                <a:lnTo>
                  <a:pt x="8275" y="241578"/>
                </a:lnTo>
                <a:cubicBezTo>
                  <a:pt x="3215" y="239197"/>
                  <a:pt x="0" y="234136"/>
                  <a:pt x="0" y="228600"/>
                </a:cubicBezTo>
                <a:cubicBezTo>
                  <a:pt x="0" y="223064"/>
                  <a:pt x="3215" y="217944"/>
                  <a:pt x="8275" y="215622"/>
                </a:cubicBezTo>
                <a:close/>
              </a:path>
            </a:pathLst>
          </a:custGeom>
          <a:solidFill>
            <a:srgbClr val="5E81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11870267" y="2057400"/>
            <a:ext cx="1143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zh-CN" altLang="en-US" sz="2000" dirty="0">
                <a:solidFill>
                  <a:schemeClr val="bg1"/>
                </a:solidFill>
              </a:rPr>
              <a:t>技术架构演进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11108267" y="2743200"/>
            <a:ext cx="448310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altLang="zh-CN" sz="1600" dirty="0">
                <a:solidFill>
                  <a:schemeClr val="bg1"/>
                </a:solidFill>
              </a:rPr>
              <a:t>Vision Transformer (ViT) </a:t>
            </a:r>
            <a:r>
              <a:rPr lang="zh-CN" altLang="en-US" sz="1600" dirty="0">
                <a:solidFill>
                  <a:schemeClr val="bg1"/>
                </a:solidFill>
              </a:rPr>
              <a:t>的出现打破了传统 </a:t>
            </a:r>
            <a:r>
              <a:rPr lang="en-US" altLang="zh-CN" sz="1600" dirty="0">
                <a:solidFill>
                  <a:schemeClr val="bg1"/>
                </a:solidFill>
              </a:rPr>
              <a:t>CNN </a:t>
            </a:r>
            <a:r>
              <a:rPr lang="zh-CN" altLang="en-US" sz="1600" dirty="0">
                <a:solidFill>
                  <a:schemeClr val="bg1"/>
                </a:solidFill>
              </a:rPr>
              <a:t>的局部偏置，通过全局注意力机制灵活捕捉关联特征，为更高效的跨模态融合与特征提取奠定了架构基础 。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9" name="Shape 27"/>
          <p:cNvSpPr/>
          <p:nvPr/>
        </p:nvSpPr>
        <p:spPr>
          <a:xfrm>
            <a:off x="11108267" y="4389969"/>
            <a:ext cx="4381500" cy="8467"/>
          </a:xfrm>
          <a:custGeom>
            <a:avLst/>
            <a:gdLst/>
            <a:ahLst/>
            <a:cxnLst/>
            <a:rect l="l" t="t" r="r" b="b"/>
            <a:pathLst>
              <a:path w="4381500" h="8467">
                <a:moveTo>
                  <a:pt x="0" y="0"/>
                </a:moveTo>
                <a:lnTo>
                  <a:pt x="4381500" y="0"/>
                </a:lnTo>
                <a:lnTo>
                  <a:pt x="4381500" y="8467"/>
                </a:lnTo>
                <a:lnTo>
                  <a:pt x="0" y="8467"/>
                </a:lnTo>
                <a:lnTo>
                  <a:pt x="0" y="0"/>
                </a:lnTo>
                <a:close/>
              </a:path>
            </a:pathLst>
          </a:custGeom>
          <a:solidFill>
            <a:srgbClr val="4A4E5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11111442" y="4580468"/>
            <a:ext cx="222250" cy="177800"/>
          </a:xfrm>
          <a:custGeom>
            <a:avLst/>
            <a:gdLst/>
            <a:ahLst/>
            <a:cxnLst/>
            <a:rect l="l" t="t" r="r" b="b"/>
            <a:pathLst>
              <a:path w="222250" h="177800">
                <a:moveTo>
                  <a:pt x="144428" y="73099"/>
                </a:moveTo>
                <a:cubicBezTo>
                  <a:pt x="148664" y="71953"/>
                  <a:pt x="153109" y="73968"/>
                  <a:pt x="155019" y="77892"/>
                </a:cubicBezTo>
                <a:lnTo>
                  <a:pt x="161479" y="90949"/>
                </a:lnTo>
                <a:cubicBezTo>
                  <a:pt x="165055" y="91435"/>
                  <a:pt x="168563" y="92407"/>
                  <a:pt x="171862" y="93762"/>
                </a:cubicBezTo>
                <a:lnTo>
                  <a:pt x="184016" y="85670"/>
                </a:lnTo>
                <a:cubicBezTo>
                  <a:pt x="187662" y="83240"/>
                  <a:pt x="192489" y="83726"/>
                  <a:pt x="195580" y="86816"/>
                </a:cubicBezTo>
                <a:lnTo>
                  <a:pt x="202248" y="93484"/>
                </a:lnTo>
                <a:cubicBezTo>
                  <a:pt x="205338" y="96575"/>
                  <a:pt x="205824" y="101436"/>
                  <a:pt x="203393" y="105048"/>
                </a:cubicBezTo>
                <a:lnTo>
                  <a:pt x="195302" y="117167"/>
                </a:lnTo>
                <a:cubicBezTo>
                  <a:pt x="195962" y="118800"/>
                  <a:pt x="196552" y="120501"/>
                  <a:pt x="197039" y="122272"/>
                </a:cubicBezTo>
                <a:cubicBezTo>
                  <a:pt x="197525" y="124043"/>
                  <a:pt x="197837" y="125780"/>
                  <a:pt x="198080" y="127551"/>
                </a:cubicBezTo>
                <a:lnTo>
                  <a:pt x="211172" y="134010"/>
                </a:lnTo>
                <a:cubicBezTo>
                  <a:pt x="215096" y="135954"/>
                  <a:pt x="217110" y="140399"/>
                  <a:pt x="215964" y="144601"/>
                </a:cubicBezTo>
                <a:lnTo>
                  <a:pt x="213534" y="153700"/>
                </a:lnTo>
                <a:cubicBezTo>
                  <a:pt x="212388" y="157902"/>
                  <a:pt x="208464" y="160749"/>
                  <a:pt x="204088" y="160471"/>
                </a:cubicBezTo>
                <a:lnTo>
                  <a:pt x="189503" y="159534"/>
                </a:lnTo>
                <a:cubicBezTo>
                  <a:pt x="187315" y="162347"/>
                  <a:pt x="184780" y="164951"/>
                  <a:pt x="181898" y="167174"/>
                </a:cubicBezTo>
                <a:lnTo>
                  <a:pt x="182835" y="181724"/>
                </a:lnTo>
                <a:cubicBezTo>
                  <a:pt x="183113" y="186100"/>
                  <a:pt x="180266" y="190058"/>
                  <a:pt x="176064" y="191170"/>
                </a:cubicBezTo>
                <a:lnTo>
                  <a:pt x="166965" y="193601"/>
                </a:lnTo>
                <a:cubicBezTo>
                  <a:pt x="162729" y="194747"/>
                  <a:pt x="158318" y="192732"/>
                  <a:pt x="156374" y="188808"/>
                </a:cubicBezTo>
                <a:lnTo>
                  <a:pt x="149915" y="175751"/>
                </a:lnTo>
                <a:cubicBezTo>
                  <a:pt x="146338" y="175265"/>
                  <a:pt x="142830" y="174293"/>
                  <a:pt x="139531" y="172938"/>
                </a:cubicBezTo>
                <a:lnTo>
                  <a:pt x="127377" y="181030"/>
                </a:lnTo>
                <a:cubicBezTo>
                  <a:pt x="123731" y="183460"/>
                  <a:pt x="118904" y="182974"/>
                  <a:pt x="115813" y="179884"/>
                </a:cubicBezTo>
                <a:lnTo>
                  <a:pt x="109146" y="173216"/>
                </a:lnTo>
                <a:cubicBezTo>
                  <a:pt x="106055" y="170125"/>
                  <a:pt x="105569" y="165298"/>
                  <a:pt x="108000" y="161652"/>
                </a:cubicBezTo>
                <a:lnTo>
                  <a:pt x="116091" y="149498"/>
                </a:lnTo>
                <a:cubicBezTo>
                  <a:pt x="115431" y="147866"/>
                  <a:pt x="114841" y="146164"/>
                  <a:pt x="114355" y="144393"/>
                </a:cubicBezTo>
                <a:cubicBezTo>
                  <a:pt x="113868" y="142622"/>
                  <a:pt x="113556" y="140851"/>
                  <a:pt x="113313" y="139115"/>
                </a:cubicBezTo>
                <a:lnTo>
                  <a:pt x="100221" y="132655"/>
                </a:lnTo>
                <a:cubicBezTo>
                  <a:pt x="96297" y="130711"/>
                  <a:pt x="94317" y="126266"/>
                  <a:pt x="95429" y="122064"/>
                </a:cubicBezTo>
                <a:lnTo>
                  <a:pt x="97859" y="112966"/>
                </a:lnTo>
                <a:cubicBezTo>
                  <a:pt x="99005" y="108764"/>
                  <a:pt x="102930" y="105916"/>
                  <a:pt x="107305" y="106194"/>
                </a:cubicBezTo>
                <a:lnTo>
                  <a:pt x="121856" y="107131"/>
                </a:lnTo>
                <a:cubicBezTo>
                  <a:pt x="124043" y="104319"/>
                  <a:pt x="126578" y="101714"/>
                  <a:pt x="129461" y="99492"/>
                </a:cubicBezTo>
                <a:lnTo>
                  <a:pt x="128523" y="84976"/>
                </a:lnTo>
                <a:cubicBezTo>
                  <a:pt x="128245" y="80600"/>
                  <a:pt x="131093" y="76642"/>
                  <a:pt x="135295" y="75530"/>
                </a:cubicBezTo>
                <a:lnTo>
                  <a:pt x="144393" y="73099"/>
                </a:lnTo>
                <a:close/>
                <a:moveTo>
                  <a:pt x="155714" y="118070"/>
                </a:moveTo>
                <a:cubicBezTo>
                  <a:pt x="147281" y="118080"/>
                  <a:pt x="140442" y="124934"/>
                  <a:pt x="140452" y="133367"/>
                </a:cubicBezTo>
                <a:cubicBezTo>
                  <a:pt x="140461" y="141800"/>
                  <a:pt x="147316" y="148639"/>
                  <a:pt x="155749" y="148630"/>
                </a:cubicBezTo>
                <a:cubicBezTo>
                  <a:pt x="164182" y="148620"/>
                  <a:pt x="171021" y="141766"/>
                  <a:pt x="171011" y="133333"/>
                </a:cubicBezTo>
                <a:cubicBezTo>
                  <a:pt x="171001" y="124900"/>
                  <a:pt x="164147" y="118061"/>
                  <a:pt x="155714" y="118070"/>
                </a:cubicBezTo>
                <a:close/>
                <a:moveTo>
                  <a:pt x="78100" y="-15801"/>
                </a:moveTo>
                <a:lnTo>
                  <a:pt x="87198" y="-13370"/>
                </a:lnTo>
                <a:cubicBezTo>
                  <a:pt x="91400" y="-12224"/>
                  <a:pt x="94248" y="-8265"/>
                  <a:pt x="93970" y="-3924"/>
                </a:cubicBezTo>
                <a:lnTo>
                  <a:pt x="93032" y="10592"/>
                </a:lnTo>
                <a:cubicBezTo>
                  <a:pt x="95915" y="12814"/>
                  <a:pt x="98450" y="15384"/>
                  <a:pt x="100638" y="18231"/>
                </a:cubicBezTo>
                <a:lnTo>
                  <a:pt x="115223" y="17294"/>
                </a:lnTo>
                <a:cubicBezTo>
                  <a:pt x="119564" y="17016"/>
                  <a:pt x="123522" y="19864"/>
                  <a:pt x="124668" y="24066"/>
                </a:cubicBezTo>
                <a:lnTo>
                  <a:pt x="127099" y="33164"/>
                </a:lnTo>
                <a:cubicBezTo>
                  <a:pt x="128210" y="37366"/>
                  <a:pt x="126231" y="41811"/>
                  <a:pt x="122307" y="43755"/>
                </a:cubicBezTo>
                <a:lnTo>
                  <a:pt x="109215" y="50215"/>
                </a:lnTo>
                <a:cubicBezTo>
                  <a:pt x="108972" y="51986"/>
                  <a:pt x="108625" y="53757"/>
                  <a:pt x="108173" y="55493"/>
                </a:cubicBezTo>
                <a:cubicBezTo>
                  <a:pt x="107722" y="57229"/>
                  <a:pt x="107097" y="58966"/>
                  <a:pt x="106437" y="60598"/>
                </a:cubicBezTo>
                <a:lnTo>
                  <a:pt x="114528" y="72752"/>
                </a:lnTo>
                <a:cubicBezTo>
                  <a:pt x="116959" y="76398"/>
                  <a:pt x="116473" y="81225"/>
                  <a:pt x="113382" y="84316"/>
                </a:cubicBezTo>
                <a:lnTo>
                  <a:pt x="106715" y="90984"/>
                </a:lnTo>
                <a:cubicBezTo>
                  <a:pt x="103624" y="94074"/>
                  <a:pt x="98797" y="94560"/>
                  <a:pt x="95151" y="92130"/>
                </a:cubicBezTo>
                <a:lnTo>
                  <a:pt x="82996" y="84038"/>
                </a:lnTo>
                <a:cubicBezTo>
                  <a:pt x="79697" y="85393"/>
                  <a:pt x="76190" y="86365"/>
                  <a:pt x="72613" y="86851"/>
                </a:cubicBezTo>
                <a:lnTo>
                  <a:pt x="66154" y="99908"/>
                </a:lnTo>
                <a:cubicBezTo>
                  <a:pt x="64209" y="103832"/>
                  <a:pt x="59764" y="105812"/>
                  <a:pt x="55563" y="104701"/>
                </a:cubicBezTo>
                <a:lnTo>
                  <a:pt x="46464" y="102270"/>
                </a:lnTo>
                <a:cubicBezTo>
                  <a:pt x="42228" y="101124"/>
                  <a:pt x="39415" y="97165"/>
                  <a:pt x="39692" y="92824"/>
                </a:cubicBezTo>
                <a:lnTo>
                  <a:pt x="40630" y="78274"/>
                </a:lnTo>
                <a:cubicBezTo>
                  <a:pt x="37748" y="76051"/>
                  <a:pt x="35213" y="73481"/>
                  <a:pt x="33025" y="70634"/>
                </a:cubicBezTo>
                <a:lnTo>
                  <a:pt x="18440" y="71571"/>
                </a:lnTo>
                <a:cubicBezTo>
                  <a:pt x="14099" y="71849"/>
                  <a:pt x="10140" y="69002"/>
                  <a:pt x="8994" y="64800"/>
                </a:cubicBezTo>
                <a:lnTo>
                  <a:pt x="6563" y="55701"/>
                </a:lnTo>
                <a:cubicBezTo>
                  <a:pt x="5452" y="51499"/>
                  <a:pt x="7431" y="47054"/>
                  <a:pt x="11356" y="45110"/>
                </a:cubicBezTo>
                <a:lnTo>
                  <a:pt x="24448" y="38651"/>
                </a:lnTo>
                <a:cubicBezTo>
                  <a:pt x="24691" y="36880"/>
                  <a:pt x="25038" y="35143"/>
                  <a:pt x="25489" y="33372"/>
                </a:cubicBezTo>
                <a:cubicBezTo>
                  <a:pt x="25975" y="31601"/>
                  <a:pt x="26531" y="29900"/>
                  <a:pt x="27226" y="28267"/>
                </a:cubicBezTo>
                <a:lnTo>
                  <a:pt x="19134" y="16148"/>
                </a:lnTo>
                <a:cubicBezTo>
                  <a:pt x="16703" y="12502"/>
                  <a:pt x="17190" y="7675"/>
                  <a:pt x="20280" y="4584"/>
                </a:cubicBezTo>
                <a:lnTo>
                  <a:pt x="26948" y="-2084"/>
                </a:lnTo>
                <a:cubicBezTo>
                  <a:pt x="30038" y="-5174"/>
                  <a:pt x="34865" y="-5660"/>
                  <a:pt x="38512" y="-3230"/>
                </a:cubicBezTo>
                <a:lnTo>
                  <a:pt x="50666" y="4862"/>
                </a:lnTo>
                <a:cubicBezTo>
                  <a:pt x="53965" y="3507"/>
                  <a:pt x="57472" y="2535"/>
                  <a:pt x="61049" y="2049"/>
                </a:cubicBezTo>
                <a:lnTo>
                  <a:pt x="67508" y="-11008"/>
                </a:lnTo>
                <a:cubicBezTo>
                  <a:pt x="69453" y="-14932"/>
                  <a:pt x="73863" y="-16912"/>
                  <a:pt x="78100" y="-15801"/>
                </a:cubicBezTo>
                <a:close/>
                <a:moveTo>
                  <a:pt x="66814" y="29170"/>
                </a:moveTo>
                <a:cubicBezTo>
                  <a:pt x="58381" y="29170"/>
                  <a:pt x="51534" y="36017"/>
                  <a:pt x="51534" y="44450"/>
                </a:cubicBezTo>
                <a:cubicBezTo>
                  <a:pt x="51534" y="52883"/>
                  <a:pt x="58381" y="59730"/>
                  <a:pt x="66814" y="59730"/>
                </a:cubicBezTo>
                <a:cubicBezTo>
                  <a:pt x="75247" y="59730"/>
                  <a:pt x="82094" y="52883"/>
                  <a:pt x="82094" y="44450"/>
                </a:cubicBezTo>
                <a:cubicBezTo>
                  <a:pt x="82094" y="36017"/>
                  <a:pt x="75247" y="29170"/>
                  <a:pt x="66814" y="29170"/>
                </a:cubicBezTo>
                <a:close/>
              </a:path>
            </a:pathLst>
          </a:custGeom>
          <a:solidFill>
            <a:srgbClr val="5E81AC"/>
          </a:solidFill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" y="628650"/>
            <a:ext cx="508000" cy="12700"/>
          </a:xfrm>
          <a:custGeom>
            <a:avLst/>
            <a:gdLst/>
            <a:ahLst/>
            <a:cxnLst/>
            <a:rect l="l" t="t" r="r" b="b"/>
            <a:pathLst>
              <a:path w="508000" h="12700">
                <a:moveTo>
                  <a:pt x="0" y="0"/>
                </a:moveTo>
                <a:lnTo>
                  <a:pt x="508000" y="0"/>
                </a:lnTo>
                <a:lnTo>
                  <a:pt x="508000" y="12700"/>
                </a:lnTo>
                <a:lnTo>
                  <a:pt x="0" y="12700"/>
                </a:lnTo>
                <a:lnTo>
                  <a:pt x="0" y="0"/>
                </a:lnTo>
                <a:close/>
              </a:path>
            </a:pathLst>
          </a:custGeom>
          <a:solidFill>
            <a:srgbClr val="5E81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1168400" y="508000"/>
            <a:ext cx="1435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kern="0" spc="70" dirty="0">
                <a:solidFill>
                  <a:srgbClr val="5E81A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Model Value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8000" y="8636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核心模型的前沿价值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20700" y="1638300"/>
            <a:ext cx="9626600" cy="3378200"/>
          </a:xfrm>
          <a:custGeom>
            <a:avLst/>
            <a:gdLst/>
            <a:ahLst/>
            <a:cxnLst/>
            <a:rect l="l" t="t" r="r" b="b"/>
            <a:pathLst>
              <a:path w="9626600" h="3378200">
                <a:moveTo>
                  <a:pt x="0" y="0"/>
                </a:moveTo>
                <a:lnTo>
                  <a:pt x="9626600" y="0"/>
                </a:lnTo>
                <a:lnTo>
                  <a:pt x="9626600" y="3378200"/>
                </a:lnTo>
                <a:lnTo>
                  <a:pt x="0" y="3378200"/>
                </a:lnTo>
                <a:lnTo>
                  <a:pt x="0" y="0"/>
                </a:lnTo>
                <a:close/>
              </a:path>
            </a:pathLst>
          </a:custGeom>
          <a:solidFill>
            <a:srgbClr val="5E81AC">
              <a:alpha val="10196"/>
            </a:srgbClr>
          </a:solidFill>
          <a:ln w="25400">
            <a:solidFill>
              <a:srgbClr val="5E81A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787400" y="19050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0" y="0"/>
                </a:moveTo>
                <a:lnTo>
                  <a:pt x="711200" y="0"/>
                </a:lnTo>
                <a:lnTo>
                  <a:pt x="711200" y="711200"/>
                </a:lnTo>
                <a:lnTo>
                  <a:pt x="0" y="711200"/>
                </a:lnTo>
                <a:lnTo>
                  <a:pt x="0" y="0"/>
                </a:lnTo>
                <a:close/>
              </a:path>
            </a:pathLst>
          </a:custGeom>
          <a:solidFill>
            <a:srgbClr val="5E81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711200" y="1905000"/>
            <a:ext cx="8636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CLIP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51000" y="2057400"/>
            <a:ext cx="1371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基础模型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87400" y="2768600"/>
            <a:ext cx="91948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首次实现</a:t>
            </a:r>
            <a:r>
              <a:rPr lang="en-US" sz="1600" b="1" dirty="0">
                <a:solidFill>
                  <a:srgbClr val="5E81A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"自然语言监督 + 对比学习"</a:t>
            </a:r>
            <a:r>
              <a:rPr lang="en-US" sz="1600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的大规模应用,突破零-shot跨任务迁移瓶颈。CLIP通过4亿(图像-文本)对的预训练,学习到了丰富的视觉-语言对应关系,为跨模态理解奠定了基础。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01688" y="4178300"/>
            <a:ext cx="200025" cy="177800"/>
          </a:xfrm>
          <a:custGeom>
            <a:avLst/>
            <a:gdLst/>
            <a:ahLst/>
            <a:cxnLst/>
            <a:rect l="l" t="t" r="r" b="b"/>
            <a:pathLst>
              <a:path w="200025" h="177800">
                <a:moveTo>
                  <a:pt x="107479" y="-6563"/>
                </a:moveTo>
                <a:cubicBezTo>
                  <a:pt x="106055" y="-9341"/>
                  <a:pt x="103173" y="-11112"/>
                  <a:pt x="100047" y="-11112"/>
                </a:cubicBezTo>
                <a:cubicBezTo>
                  <a:pt x="96922" y="-11112"/>
                  <a:pt x="94040" y="-9341"/>
                  <a:pt x="92616" y="-6563"/>
                </a:cubicBezTo>
                <a:lnTo>
                  <a:pt x="67057" y="43512"/>
                </a:lnTo>
                <a:lnTo>
                  <a:pt x="11529" y="52333"/>
                </a:lnTo>
                <a:cubicBezTo>
                  <a:pt x="8439" y="52819"/>
                  <a:pt x="5869" y="55007"/>
                  <a:pt x="4896" y="57993"/>
                </a:cubicBezTo>
                <a:cubicBezTo>
                  <a:pt x="3924" y="60980"/>
                  <a:pt x="4723" y="64244"/>
                  <a:pt x="6911" y="66467"/>
                </a:cubicBezTo>
                <a:lnTo>
                  <a:pt x="46638" y="106229"/>
                </a:lnTo>
                <a:lnTo>
                  <a:pt x="37887" y="161756"/>
                </a:lnTo>
                <a:cubicBezTo>
                  <a:pt x="37401" y="164847"/>
                  <a:pt x="38685" y="167972"/>
                  <a:pt x="41220" y="169813"/>
                </a:cubicBezTo>
                <a:cubicBezTo>
                  <a:pt x="43755" y="171653"/>
                  <a:pt x="47089" y="171931"/>
                  <a:pt x="49902" y="170507"/>
                </a:cubicBezTo>
                <a:lnTo>
                  <a:pt x="100047" y="145018"/>
                </a:lnTo>
                <a:lnTo>
                  <a:pt x="150158" y="170507"/>
                </a:lnTo>
                <a:cubicBezTo>
                  <a:pt x="152936" y="171931"/>
                  <a:pt x="156304" y="171653"/>
                  <a:pt x="158839" y="169813"/>
                </a:cubicBezTo>
                <a:cubicBezTo>
                  <a:pt x="161374" y="167972"/>
                  <a:pt x="162659" y="164882"/>
                  <a:pt x="162173" y="161756"/>
                </a:cubicBezTo>
                <a:lnTo>
                  <a:pt x="153387" y="106229"/>
                </a:lnTo>
                <a:lnTo>
                  <a:pt x="193114" y="66467"/>
                </a:lnTo>
                <a:cubicBezTo>
                  <a:pt x="195337" y="64244"/>
                  <a:pt x="196101" y="60980"/>
                  <a:pt x="195129" y="57993"/>
                </a:cubicBezTo>
                <a:cubicBezTo>
                  <a:pt x="194156" y="55007"/>
                  <a:pt x="191621" y="52819"/>
                  <a:pt x="188496" y="52333"/>
                </a:cubicBezTo>
                <a:lnTo>
                  <a:pt x="133003" y="43512"/>
                </a:lnTo>
                <a:lnTo>
                  <a:pt x="107479" y="-6563"/>
                </a:lnTo>
                <a:close/>
              </a:path>
            </a:pathLst>
          </a:custGeom>
          <a:solidFill>
            <a:srgbClr val="5E81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1111250" y="4140200"/>
            <a:ext cx="2298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开创跨模态零-shot学习范式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01688" y="4533900"/>
            <a:ext cx="200025" cy="177800"/>
          </a:xfrm>
          <a:custGeom>
            <a:avLst/>
            <a:gdLst/>
            <a:ahLst/>
            <a:cxnLst/>
            <a:rect l="l" t="t" r="r" b="b"/>
            <a:pathLst>
              <a:path w="200025" h="177800">
                <a:moveTo>
                  <a:pt x="107479" y="-6563"/>
                </a:moveTo>
                <a:cubicBezTo>
                  <a:pt x="106055" y="-9341"/>
                  <a:pt x="103173" y="-11112"/>
                  <a:pt x="100047" y="-11112"/>
                </a:cubicBezTo>
                <a:cubicBezTo>
                  <a:pt x="96922" y="-11112"/>
                  <a:pt x="94040" y="-9341"/>
                  <a:pt x="92616" y="-6563"/>
                </a:cubicBezTo>
                <a:lnTo>
                  <a:pt x="67057" y="43512"/>
                </a:lnTo>
                <a:lnTo>
                  <a:pt x="11529" y="52333"/>
                </a:lnTo>
                <a:cubicBezTo>
                  <a:pt x="8439" y="52819"/>
                  <a:pt x="5869" y="55007"/>
                  <a:pt x="4896" y="57993"/>
                </a:cubicBezTo>
                <a:cubicBezTo>
                  <a:pt x="3924" y="60980"/>
                  <a:pt x="4723" y="64244"/>
                  <a:pt x="6911" y="66467"/>
                </a:cubicBezTo>
                <a:lnTo>
                  <a:pt x="46638" y="106229"/>
                </a:lnTo>
                <a:lnTo>
                  <a:pt x="37887" y="161756"/>
                </a:lnTo>
                <a:cubicBezTo>
                  <a:pt x="37401" y="164847"/>
                  <a:pt x="38685" y="167972"/>
                  <a:pt x="41220" y="169813"/>
                </a:cubicBezTo>
                <a:cubicBezTo>
                  <a:pt x="43755" y="171653"/>
                  <a:pt x="47089" y="171931"/>
                  <a:pt x="49902" y="170507"/>
                </a:cubicBezTo>
                <a:lnTo>
                  <a:pt x="100047" y="145018"/>
                </a:lnTo>
                <a:lnTo>
                  <a:pt x="150158" y="170507"/>
                </a:lnTo>
                <a:cubicBezTo>
                  <a:pt x="152936" y="171931"/>
                  <a:pt x="156304" y="171653"/>
                  <a:pt x="158839" y="169813"/>
                </a:cubicBezTo>
                <a:cubicBezTo>
                  <a:pt x="161374" y="167972"/>
                  <a:pt x="162659" y="164882"/>
                  <a:pt x="162173" y="161756"/>
                </a:cubicBezTo>
                <a:lnTo>
                  <a:pt x="153387" y="106229"/>
                </a:lnTo>
                <a:lnTo>
                  <a:pt x="193114" y="66467"/>
                </a:lnTo>
                <a:cubicBezTo>
                  <a:pt x="195337" y="64244"/>
                  <a:pt x="196101" y="60980"/>
                  <a:pt x="195129" y="57993"/>
                </a:cubicBezTo>
                <a:cubicBezTo>
                  <a:pt x="194156" y="55007"/>
                  <a:pt x="191621" y="52819"/>
                  <a:pt x="188496" y="52333"/>
                </a:cubicBezTo>
                <a:lnTo>
                  <a:pt x="133003" y="43512"/>
                </a:lnTo>
                <a:lnTo>
                  <a:pt x="107479" y="-6563"/>
                </a:lnTo>
                <a:close/>
              </a:path>
            </a:pathLst>
          </a:custGeom>
          <a:solidFill>
            <a:srgbClr val="5E81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1111250" y="4495800"/>
            <a:ext cx="2578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在多个视觉任务上展现泛化能力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20700" y="5245100"/>
            <a:ext cx="9626600" cy="3378200"/>
          </a:xfrm>
          <a:custGeom>
            <a:avLst/>
            <a:gdLst/>
            <a:ahLst/>
            <a:cxnLst/>
            <a:rect l="l" t="t" r="r" b="b"/>
            <a:pathLst>
              <a:path w="9626600" h="3378200">
                <a:moveTo>
                  <a:pt x="0" y="0"/>
                </a:moveTo>
                <a:lnTo>
                  <a:pt x="9626600" y="0"/>
                </a:lnTo>
                <a:lnTo>
                  <a:pt x="9626600" y="3378200"/>
                </a:lnTo>
                <a:lnTo>
                  <a:pt x="0" y="3378200"/>
                </a:lnTo>
                <a:lnTo>
                  <a:pt x="0" y="0"/>
                </a:lnTo>
                <a:close/>
              </a:path>
            </a:pathLst>
          </a:custGeom>
          <a:solidFill>
            <a:srgbClr val="4A4E56">
              <a:alpha val="20000"/>
            </a:srgbClr>
          </a:solidFill>
          <a:ln w="25400">
            <a:solidFill>
              <a:srgbClr val="4A4E5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787400" y="55118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0" y="0"/>
                </a:moveTo>
                <a:lnTo>
                  <a:pt x="711200" y="0"/>
                </a:lnTo>
                <a:lnTo>
                  <a:pt x="711200" y="711200"/>
                </a:lnTo>
                <a:lnTo>
                  <a:pt x="0" y="711200"/>
                </a:lnTo>
                <a:lnTo>
                  <a:pt x="0" y="0"/>
                </a:lnTo>
                <a:close/>
              </a:path>
            </a:pathLst>
          </a:custGeom>
          <a:solidFill>
            <a:srgbClr val="4A4E5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723900" y="5511800"/>
            <a:ext cx="8382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AF-CLIP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51000" y="5664200"/>
            <a:ext cx="167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场景化改进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87400" y="6375400"/>
            <a:ext cx="91948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基于CLIP的场景化改进,针对性解决</a:t>
            </a:r>
            <a:r>
              <a:rPr lang="en-US" sz="1600" b="1" dirty="0">
                <a:solidFill>
                  <a:srgbClr val="5E81A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局部异常检测</a:t>
            </a:r>
            <a:r>
              <a:rPr lang="en-US" sz="1600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问题,拓展跨模态模型的应用边界。通过多尺度空间聚合和异常聚焦适配器,AF-CLIP在不改变CLIP核心权重的前提下,显著提升了局部特征感知能力。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12800" y="77851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155575" y="88900"/>
                </a:moveTo>
                <a:cubicBezTo>
                  <a:pt x="155575" y="52101"/>
                  <a:pt x="125699" y="22225"/>
                  <a:pt x="88900" y="22225"/>
                </a:cubicBezTo>
                <a:cubicBezTo>
                  <a:pt x="52101" y="22225"/>
                  <a:pt x="22225" y="52101"/>
                  <a:pt x="22225" y="88900"/>
                </a:cubicBezTo>
                <a:cubicBezTo>
                  <a:pt x="22225" y="125699"/>
                  <a:pt x="52101" y="155575"/>
                  <a:pt x="88900" y="155575"/>
                </a:cubicBezTo>
                <a:cubicBezTo>
                  <a:pt x="125699" y="155575"/>
                  <a:pt x="155575" y="125699"/>
                  <a:pt x="155575" y="88900"/>
                </a:cubicBezTo>
                <a:close/>
                <a:moveTo>
                  <a:pt x="0" y="88900"/>
                </a:moveTo>
                <a:cubicBezTo>
                  <a:pt x="0" y="39835"/>
                  <a:pt x="39835" y="0"/>
                  <a:pt x="88900" y="0"/>
                </a:cubicBezTo>
                <a:cubicBezTo>
                  <a:pt x="137965" y="0"/>
                  <a:pt x="177800" y="39835"/>
                  <a:pt x="177800" y="88900"/>
                </a:cubicBezTo>
                <a:cubicBezTo>
                  <a:pt x="177800" y="137965"/>
                  <a:pt x="137965" y="177800"/>
                  <a:pt x="88900" y="177800"/>
                </a:cubicBezTo>
                <a:cubicBezTo>
                  <a:pt x="39835" y="177800"/>
                  <a:pt x="0" y="137965"/>
                  <a:pt x="0" y="88900"/>
                </a:cubicBezTo>
                <a:close/>
                <a:moveTo>
                  <a:pt x="88900" y="116681"/>
                </a:moveTo>
                <a:cubicBezTo>
                  <a:pt x="104233" y="116681"/>
                  <a:pt x="116681" y="104233"/>
                  <a:pt x="116681" y="88900"/>
                </a:cubicBezTo>
                <a:cubicBezTo>
                  <a:pt x="116681" y="73567"/>
                  <a:pt x="104233" y="61119"/>
                  <a:pt x="88900" y="61119"/>
                </a:cubicBezTo>
                <a:cubicBezTo>
                  <a:pt x="73567" y="61119"/>
                  <a:pt x="61119" y="73567"/>
                  <a:pt x="61119" y="88900"/>
                </a:cubicBezTo>
                <a:cubicBezTo>
                  <a:pt x="61119" y="104233"/>
                  <a:pt x="73567" y="116681"/>
                  <a:pt x="88900" y="116681"/>
                </a:cubicBezTo>
                <a:close/>
                <a:moveTo>
                  <a:pt x="88900" y="38894"/>
                </a:moveTo>
                <a:cubicBezTo>
                  <a:pt x="116499" y="38894"/>
                  <a:pt x="138906" y="61301"/>
                  <a:pt x="138906" y="88900"/>
                </a:cubicBezTo>
                <a:cubicBezTo>
                  <a:pt x="138906" y="116499"/>
                  <a:pt x="116499" y="138906"/>
                  <a:pt x="88900" y="138906"/>
                </a:cubicBezTo>
                <a:cubicBezTo>
                  <a:pt x="61301" y="138906"/>
                  <a:pt x="38894" y="116499"/>
                  <a:pt x="38894" y="88900"/>
                </a:cubicBezTo>
                <a:cubicBezTo>
                  <a:pt x="38894" y="61301"/>
                  <a:pt x="61301" y="38894"/>
                  <a:pt x="88900" y="38894"/>
                </a:cubicBezTo>
                <a:close/>
                <a:moveTo>
                  <a:pt x="77788" y="88900"/>
                </a:moveTo>
                <a:cubicBezTo>
                  <a:pt x="77788" y="82767"/>
                  <a:pt x="82767" y="77788"/>
                  <a:pt x="88900" y="77788"/>
                </a:cubicBezTo>
                <a:cubicBezTo>
                  <a:pt x="95033" y="77788"/>
                  <a:pt x="100013" y="82767"/>
                  <a:pt x="100013" y="88900"/>
                </a:cubicBezTo>
                <a:cubicBezTo>
                  <a:pt x="100013" y="95033"/>
                  <a:pt x="95033" y="100013"/>
                  <a:pt x="88900" y="100013"/>
                </a:cubicBezTo>
                <a:cubicBezTo>
                  <a:pt x="82767" y="100013"/>
                  <a:pt x="77788" y="95033"/>
                  <a:pt x="77788" y="88900"/>
                </a:cubicBezTo>
                <a:close/>
              </a:path>
            </a:pathLst>
          </a:custGeom>
          <a:solidFill>
            <a:srgbClr val="5E81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1111250" y="7747000"/>
            <a:ext cx="1511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精准定位异常区域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12800" y="81407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155575" y="88900"/>
                </a:moveTo>
                <a:cubicBezTo>
                  <a:pt x="155575" y="52101"/>
                  <a:pt x="125699" y="22225"/>
                  <a:pt x="88900" y="22225"/>
                </a:cubicBezTo>
                <a:cubicBezTo>
                  <a:pt x="52101" y="22225"/>
                  <a:pt x="22225" y="52101"/>
                  <a:pt x="22225" y="88900"/>
                </a:cubicBezTo>
                <a:cubicBezTo>
                  <a:pt x="22225" y="125699"/>
                  <a:pt x="52101" y="155575"/>
                  <a:pt x="88900" y="155575"/>
                </a:cubicBezTo>
                <a:cubicBezTo>
                  <a:pt x="125699" y="155575"/>
                  <a:pt x="155575" y="125699"/>
                  <a:pt x="155575" y="88900"/>
                </a:cubicBezTo>
                <a:close/>
                <a:moveTo>
                  <a:pt x="0" y="88900"/>
                </a:moveTo>
                <a:cubicBezTo>
                  <a:pt x="0" y="39835"/>
                  <a:pt x="39835" y="0"/>
                  <a:pt x="88900" y="0"/>
                </a:cubicBezTo>
                <a:cubicBezTo>
                  <a:pt x="137965" y="0"/>
                  <a:pt x="177800" y="39835"/>
                  <a:pt x="177800" y="88900"/>
                </a:cubicBezTo>
                <a:cubicBezTo>
                  <a:pt x="177800" y="137965"/>
                  <a:pt x="137965" y="177800"/>
                  <a:pt x="88900" y="177800"/>
                </a:cubicBezTo>
                <a:cubicBezTo>
                  <a:pt x="39835" y="177800"/>
                  <a:pt x="0" y="137965"/>
                  <a:pt x="0" y="88900"/>
                </a:cubicBezTo>
                <a:close/>
                <a:moveTo>
                  <a:pt x="88900" y="116681"/>
                </a:moveTo>
                <a:cubicBezTo>
                  <a:pt x="104233" y="116681"/>
                  <a:pt x="116681" y="104233"/>
                  <a:pt x="116681" y="88900"/>
                </a:cubicBezTo>
                <a:cubicBezTo>
                  <a:pt x="116681" y="73567"/>
                  <a:pt x="104233" y="61119"/>
                  <a:pt x="88900" y="61119"/>
                </a:cubicBezTo>
                <a:cubicBezTo>
                  <a:pt x="73567" y="61119"/>
                  <a:pt x="61119" y="73567"/>
                  <a:pt x="61119" y="88900"/>
                </a:cubicBezTo>
                <a:cubicBezTo>
                  <a:pt x="61119" y="104233"/>
                  <a:pt x="73567" y="116681"/>
                  <a:pt x="88900" y="116681"/>
                </a:cubicBezTo>
                <a:close/>
                <a:moveTo>
                  <a:pt x="88900" y="38894"/>
                </a:moveTo>
                <a:cubicBezTo>
                  <a:pt x="116499" y="38894"/>
                  <a:pt x="138906" y="61301"/>
                  <a:pt x="138906" y="88900"/>
                </a:cubicBezTo>
                <a:cubicBezTo>
                  <a:pt x="138906" y="116499"/>
                  <a:pt x="116499" y="138906"/>
                  <a:pt x="88900" y="138906"/>
                </a:cubicBezTo>
                <a:cubicBezTo>
                  <a:pt x="61301" y="138906"/>
                  <a:pt x="38894" y="116499"/>
                  <a:pt x="38894" y="88900"/>
                </a:cubicBezTo>
                <a:cubicBezTo>
                  <a:pt x="38894" y="61301"/>
                  <a:pt x="61301" y="38894"/>
                  <a:pt x="88900" y="38894"/>
                </a:cubicBezTo>
                <a:close/>
                <a:moveTo>
                  <a:pt x="77788" y="88900"/>
                </a:moveTo>
                <a:cubicBezTo>
                  <a:pt x="77788" y="82767"/>
                  <a:pt x="82767" y="77788"/>
                  <a:pt x="88900" y="77788"/>
                </a:cubicBezTo>
                <a:cubicBezTo>
                  <a:pt x="95033" y="77788"/>
                  <a:pt x="100013" y="82767"/>
                  <a:pt x="100013" y="88900"/>
                </a:cubicBezTo>
                <a:cubicBezTo>
                  <a:pt x="100013" y="95033"/>
                  <a:pt x="95033" y="100013"/>
                  <a:pt x="88900" y="100013"/>
                </a:cubicBezTo>
                <a:cubicBezTo>
                  <a:pt x="82767" y="100013"/>
                  <a:pt x="77788" y="95033"/>
                  <a:pt x="77788" y="88900"/>
                </a:cubicBezTo>
                <a:close/>
              </a:path>
            </a:pathLst>
          </a:custGeom>
          <a:solidFill>
            <a:srgbClr val="5E81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1111250" y="8102600"/>
            <a:ext cx="2222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适配工业、医疗等专业场景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0418233" y="1629833"/>
            <a:ext cx="5329767" cy="7006167"/>
          </a:xfrm>
          <a:custGeom>
            <a:avLst/>
            <a:gdLst/>
            <a:ahLst/>
            <a:cxnLst/>
            <a:rect l="l" t="t" r="r" b="b"/>
            <a:pathLst>
              <a:path w="5329767" h="7006167">
                <a:moveTo>
                  <a:pt x="0" y="0"/>
                </a:moveTo>
                <a:lnTo>
                  <a:pt x="5329767" y="0"/>
                </a:lnTo>
                <a:lnTo>
                  <a:pt x="5329767" y="7006167"/>
                </a:lnTo>
                <a:lnTo>
                  <a:pt x="0" y="7006167"/>
                </a:lnTo>
                <a:lnTo>
                  <a:pt x="0" y="0"/>
                </a:lnTo>
                <a:close/>
              </a:path>
            </a:pathLst>
          </a:custGeom>
          <a:solidFill>
            <a:srgbClr val="5E81AC">
              <a:alpha val="5098"/>
            </a:srgbClr>
          </a:solidFill>
          <a:ln w="8467">
            <a:solidFill>
              <a:srgbClr val="5E81A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10692342" y="1938868"/>
            <a:ext cx="285750" cy="254000"/>
          </a:xfrm>
          <a:custGeom>
            <a:avLst/>
            <a:gdLst/>
            <a:ahLst/>
            <a:cxnLst/>
            <a:rect l="l" t="t" r="r" b="b"/>
            <a:pathLst>
              <a:path w="285750" h="254000">
                <a:moveTo>
                  <a:pt x="208111" y="47625"/>
                </a:moveTo>
                <a:cubicBezTo>
                  <a:pt x="199876" y="47625"/>
                  <a:pt x="191889" y="49857"/>
                  <a:pt x="184894" y="53925"/>
                </a:cubicBezTo>
                <a:cubicBezTo>
                  <a:pt x="177056" y="45988"/>
                  <a:pt x="167928" y="39340"/>
                  <a:pt x="157857" y="34330"/>
                </a:cubicBezTo>
                <a:cubicBezTo>
                  <a:pt x="171847" y="22423"/>
                  <a:pt x="189657" y="15875"/>
                  <a:pt x="208111" y="15875"/>
                </a:cubicBezTo>
                <a:cubicBezTo>
                  <a:pt x="250974" y="15875"/>
                  <a:pt x="285750" y="50602"/>
                  <a:pt x="285750" y="93514"/>
                </a:cubicBezTo>
                <a:cubicBezTo>
                  <a:pt x="285750" y="114102"/>
                  <a:pt x="277564" y="133846"/>
                  <a:pt x="263029" y="148382"/>
                </a:cubicBezTo>
                <a:lnTo>
                  <a:pt x="227757" y="183654"/>
                </a:lnTo>
                <a:cubicBezTo>
                  <a:pt x="213221" y="198189"/>
                  <a:pt x="193477" y="206375"/>
                  <a:pt x="172889" y="206375"/>
                </a:cubicBezTo>
                <a:cubicBezTo>
                  <a:pt x="130026" y="206375"/>
                  <a:pt x="95250" y="171648"/>
                  <a:pt x="95250" y="128736"/>
                </a:cubicBezTo>
                <a:cubicBezTo>
                  <a:pt x="95250" y="127992"/>
                  <a:pt x="95250" y="127248"/>
                  <a:pt x="95300" y="126504"/>
                </a:cubicBezTo>
                <a:cubicBezTo>
                  <a:pt x="95548" y="117723"/>
                  <a:pt x="102840" y="110827"/>
                  <a:pt x="111621" y="111075"/>
                </a:cubicBezTo>
                <a:cubicBezTo>
                  <a:pt x="120402" y="111323"/>
                  <a:pt x="127298" y="118616"/>
                  <a:pt x="127050" y="127397"/>
                </a:cubicBezTo>
                <a:cubicBezTo>
                  <a:pt x="127050" y="127843"/>
                  <a:pt x="127050" y="128290"/>
                  <a:pt x="127050" y="128687"/>
                </a:cubicBezTo>
                <a:cubicBezTo>
                  <a:pt x="127050" y="154037"/>
                  <a:pt x="147588" y="174575"/>
                  <a:pt x="172938" y="174575"/>
                </a:cubicBezTo>
                <a:cubicBezTo>
                  <a:pt x="185093" y="174575"/>
                  <a:pt x="196751" y="169763"/>
                  <a:pt x="205383" y="161131"/>
                </a:cubicBezTo>
                <a:lnTo>
                  <a:pt x="240655" y="125859"/>
                </a:lnTo>
                <a:cubicBezTo>
                  <a:pt x="249237" y="117277"/>
                  <a:pt x="254099" y="105569"/>
                  <a:pt x="254099" y="93414"/>
                </a:cubicBezTo>
                <a:cubicBezTo>
                  <a:pt x="254099" y="68064"/>
                  <a:pt x="233561" y="47526"/>
                  <a:pt x="208211" y="47526"/>
                </a:cubicBezTo>
                <a:close/>
                <a:moveTo>
                  <a:pt x="136525" y="85973"/>
                </a:moveTo>
                <a:cubicBezTo>
                  <a:pt x="135582" y="85576"/>
                  <a:pt x="134640" y="85030"/>
                  <a:pt x="133796" y="84435"/>
                </a:cubicBezTo>
                <a:cubicBezTo>
                  <a:pt x="127546" y="81211"/>
                  <a:pt x="120402" y="79375"/>
                  <a:pt x="112911" y="79375"/>
                </a:cubicBezTo>
                <a:cubicBezTo>
                  <a:pt x="100757" y="79375"/>
                  <a:pt x="89098" y="84187"/>
                  <a:pt x="80466" y="92819"/>
                </a:cubicBezTo>
                <a:lnTo>
                  <a:pt x="45194" y="128091"/>
                </a:lnTo>
                <a:cubicBezTo>
                  <a:pt x="36612" y="136674"/>
                  <a:pt x="31750" y="148382"/>
                  <a:pt x="31750" y="160536"/>
                </a:cubicBezTo>
                <a:cubicBezTo>
                  <a:pt x="31750" y="185886"/>
                  <a:pt x="52288" y="206425"/>
                  <a:pt x="77639" y="206425"/>
                </a:cubicBezTo>
                <a:cubicBezTo>
                  <a:pt x="85824" y="206425"/>
                  <a:pt x="93811" y="204242"/>
                  <a:pt x="100806" y="200174"/>
                </a:cubicBezTo>
                <a:cubicBezTo>
                  <a:pt x="108645" y="208111"/>
                  <a:pt x="117773" y="214759"/>
                  <a:pt x="127893" y="219770"/>
                </a:cubicBezTo>
                <a:cubicBezTo>
                  <a:pt x="113903" y="231626"/>
                  <a:pt x="96143" y="238224"/>
                  <a:pt x="77639" y="238224"/>
                </a:cubicBezTo>
                <a:cubicBezTo>
                  <a:pt x="34776" y="238224"/>
                  <a:pt x="0" y="203498"/>
                  <a:pt x="0" y="160586"/>
                </a:cubicBezTo>
                <a:cubicBezTo>
                  <a:pt x="0" y="139998"/>
                  <a:pt x="8186" y="120253"/>
                  <a:pt x="22721" y="105718"/>
                </a:cubicBezTo>
                <a:lnTo>
                  <a:pt x="57993" y="70445"/>
                </a:lnTo>
                <a:cubicBezTo>
                  <a:pt x="72529" y="55910"/>
                  <a:pt x="92273" y="47724"/>
                  <a:pt x="112861" y="47724"/>
                </a:cubicBezTo>
                <a:cubicBezTo>
                  <a:pt x="155823" y="47724"/>
                  <a:pt x="190500" y="82748"/>
                  <a:pt x="190500" y="125561"/>
                </a:cubicBezTo>
                <a:cubicBezTo>
                  <a:pt x="190500" y="126206"/>
                  <a:pt x="190500" y="126851"/>
                  <a:pt x="190500" y="127496"/>
                </a:cubicBezTo>
                <a:cubicBezTo>
                  <a:pt x="190302" y="136277"/>
                  <a:pt x="183009" y="143173"/>
                  <a:pt x="174228" y="142974"/>
                </a:cubicBezTo>
                <a:cubicBezTo>
                  <a:pt x="165447" y="142776"/>
                  <a:pt x="158552" y="135483"/>
                  <a:pt x="158750" y="126702"/>
                </a:cubicBezTo>
                <a:cubicBezTo>
                  <a:pt x="158750" y="126305"/>
                  <a:pt x="158750" y="125958"/>
                  <a:pt x="158750" y="125561"/>
                </a:cubicBezTo>
                <a:cubicBezTo>
                  <a:pt x="158750" y="108843"/>
                  <a:pt x="149820" y="94159"/>
                  <a:pt x="136525" y="86072"/>
                </a:cubicBezTo>
                <a:close/>
              </a:path>
            </a:pathLst>
          </a:custGeom>
          <a:solidFill>
            <a:srgbClr val="5E81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10993967" y="1888068"/>
            <a:ext cx="4622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两者联动:基础 → 改进 → 应用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0676467" y="3183468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0" y="0"/>
                </a:moveTo>
                <a:lnTo>
                  <a:pt x="508000" y="0"/>
                </a:lnTo>
                <a:lnTo>
                  <a:pt x="5080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5E81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10619317" y="3183468"/>
            <a:ext cx="622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336867" y="3158068"/>
            <a:ext cx="4254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CLIP奠定跨模态基础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1336867" y="3462868"/>
            <a:ext cx="424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构建统一的视觉-语言嵌入空间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2966700" y="3920068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100846" y="299204"/>
                </a:moveTo>
                <a:cubicBezTo>
                  <a:pt x="108287" y="306645"/>
                  <a:pt x="120372" y="306645"/>
                  <a:pt x="127814" y="299204"/>
                </a:cubicBezTo>
                <a:lnTo>
                  <a:pt x="223064" y="203954"/>
                </a:lnTo>
                <a:cubicBezTo>
                  <a:pt x="230505" y="196513"/>
                  <a:pt x="230505" y="184428"/>
                  <a:pt x="223064" y="176986"/>
                </a:cubicBezTo>
                <a:cubicBezTo>
                  <a:pt x="215622" y="169545"/>
                  <a:pt x="203537" y="169545"/>
                  <a:pt x="196096" y="176986"/>
                </a:cubicBezTo>
                <a:lnTo>
                  <a:pt x="133350" y="239732"/>
                </a:lnTo>
                <a:lnTo>
                  <a:pt x="133350" y="19050"/>
                </a:lnTo>
                <a:cubicBezTo>
                  <a:pt x="133350" y="8513"/>
                  <a:pt x="124837" y="0"/>
                  <a:pt x="114300" y="0"/>
                </a:cubicBezTo>
                <a:cubicBezTo>
                  <a:pt x="103763" y="0"/>
                  <a:pt x="95250" y="8513"/>
                  <a:pt x="95250" y="19050"/>
                </a:cubicBezTo>
                <a:lnTo>
                  <a:pt x="95250" y="239732"/>
                </a:lnTo>
                <a:lnTo>
                  <a:pt x="32504" y="176986"/>
                </a:lnTo>
                <a:cubicBezTo>
                  <a:pt x="25063" y="169545"/>
                  <a:pt x="12978" y="169545"/>
                  <a:pt x="5536" y="176986"/>
                </a:cubicBezTo>
                <a:cubicBezTo>
                  <a:pt x="-1905" y="184428"/>
                  <a:pt x="-1905" y="196513"/>
                  <a:pt x="5536" y="203954"/>
                </a:cubicBezTo>
                <a:lnTo>
                  <a:pt x="100786" y="299204"/>
                </a:lnTo>
                <a:close/>
              </a:path>
            </a:pathLst>
          </a:custGeom>
          <a:solidFill>
            <a:srgbClr val="5E81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10676467" y="4453468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0" y="0"/>
                </a:moveTo>
                <a:lnTo>
                  <a:pt x="508000" y="0"/>
                </a:lnTo>
                <a:lnTo>
                  <a:pt x="5080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5E81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10619317" y="4453468"/>
            <a:ext cx="622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1336867" y="4428068"/>
            <a:ext cx="4254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AF-CLIP实现场景化落地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1336867" y="4732868"/>
            <a:ext cx="424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增强局部感知,适配异常检测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12966700" y="5190068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100846" y="299204"/>
                </a:moveTo>
                <a:cubicBezTo>
                  <a:pt x="108287" y="306645"/>
                  <a:pt x="120372" y="306645"/>
                  <a:pt x="127814" y="299204"/>
                </a:cubicBezTo>
                <a:lnTo>
                  <a:pt x="223064" y="203954"/>
                </a:lnTo>
                <a:cubicBezTo>
                  <a:pt x="230505" y="196513"/>
                  <a:pt x="230505" y="184428"/>
                  <a:pt x="223064" y="176986"/>
                </a:cubicBezTo>
                <a:cubicBezTo>
                  <a:pt x="215622" y="169545"/>
                  <a:pt x="203537" y="169545"/>
                  <a:pt x="196096" y="176986"/>
                </a:cubicBezTo>
                <a:lnTo>
                  <a:pt x="133350" y="239732"/>
                </a:lnTo>
                <a:lnTo>
                  <a:pt x="133350" y="19050"/>
                </a:lnTo>
                <a:cubicBezTo>
                  <a:pt x="133350" y="8513"/>
                  <a:pt x="124837" y="0"/>
                  <a:pt x="114300" y="0"/>
                </a:cubicBezTo>
                <a:cubicBezTo>
                  <a:pt x="103763" y="0"/>
                  <a:pt x="95250" y="8513"/>
                  <a:pt x="95250" y="19050"/>
                </a:cubicBezTo>
                <a:lnTo>
                  <a:pt x="95250" y="239732"/>
                </a:lnTo>
                <a:lnTo>
                  <a:pt x="32504" y="176986"/>
                </a:lnTo>
                <a:cubicBezTo>
                  <a:pt x="25063" y="169545"/>
                  <a:pt x="12978" y="169545"/>
                  <a:pt x="5536" y="176986"/>
                </a:cubicBezTo>
                <a:cubicBezTo>
                  <a:pt x="-1905" y="184428"/>
                  <a:pt x="-1905" y="196513"/>
                  <a:pt x="5536" y="203954"/>
                </a:cubicBezTo>
                <a:lnTo>
                  <a:pt x="100786" y="299204"/>
                </a:lnTo>
                <a:close/>
              </a:path>
            </a:pathLst>
          </a:custGeom>
          <a:solidFill>
            <a:srgbClr val="5E81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10676467" y="5723468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0" y="0"/>
                </a:moveTo>
                <a:lnTo>
                  <a:pt x="508000" y="0"/>
                </a:lnTo>
                <a:lnTo>
                  <a:pt x="5080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5E81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10619317" y="5723468"/>
            <a:ext cx="622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1336867" y="5698068"/>
            <a:ext cx="4254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构成前沿研究链条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1336867" y="6002868"/>
            <a:ext cx="424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为异常检测提供新范式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10676467" y="7175501"/>
            <a:ext cx="4813300" cy="8467"/>
          </a:xfrm>
          <a:custGeom>
            <a:avLst/>
            <a:gdLst/>
            <a:ahLst/>
            <a:cxnLst/>
            <a:rect l="l" t="t" r="r" b="b"/>
            <a:pathLst>
              <a:path w="4813300" h="8467">
                <a:moveTo>
                  <a:pt x="0" y="0"/>
                </a:moveTo>
                <a:lnTo>
                  <a:pt x="4813300" y="0"/>
                </a:lnTo>
                <a:lnTo>
                  <a:pt x="4813300" y="8467"/>
                </a:lnTo>
                <a:lnTo>
                  <a:pt x="0" y="8467"/>
                </a:lnTo>
                <a:lnTo>
                  <a:pt x="0" y="0"/>
                </a:lnTo>
                <a:close/>
              </a:path>
            </a:pathLst>
          </a:custGeom>
          <a:solidFill>
            <a:srgbClr val="4A4E5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10676467" y="7382935"/>
            <a:ext cx="49149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这种</a:t>
            </a:r>
            <a:r>
              <a:rPr lang="en-US" sz="1600" b="1" dirty="0">
                <a:solidFill>
                  <a:srgbClr val="5E81A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"基础模型 + 场景化改进"</a:t>
            </a:r>
            <a:r>
              <a:rPr lang="en-US" sz="1600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的研究范式,不仅推动了异常检测技术的发展,也为其他专业领域的零-shot应用提供了可借鉴的思路。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shutterstock.com/22153b74846bbf52d508f6a94600b53cef0004a2.jpg"/>
          <p:cNvPicPr>
            <a:picLocks noChangeAspect="1"/>
          </p:cNvPicPr>
          <p:nvPr/>
        </p:nvPicPr>
        <p:blipFill>
          <a:blip r:embed="rId3">
            <a:alphaModFix amt="30000"/>
          </a:blip>
          <a:srcRect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/>
              </a:gs>
              <a:gs pos="50000">
                <a:srgbClr val="1A1D21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1"/>
          <p:cNvSpPr/>
          <p:nvPr/>
        </p:nvSpPr>
        <p:spPr>
          <a:xfrm>
            <a:off x="508000" y="2293938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0" y="0"/>
                </a:moveTo>
                <a:lnTo>
                  <a:pt x="1219200" y="0"/>
                </a:lnTo>
                <a:lnTo>
                  <a:pt x="1219200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5E81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355600" y="2293938"/>
            <a:ext cx="15240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032000" y="2897188"/>
            <a:ext cx="3810000" cy="12700"/>
          </a:xfrm>
          <a:custGeom>
            <a:avLst/>
            <a:gdLst/>
            <a:ahLst/>
            <a:cxnLst/>
            <a:rect l="l" t="t" r="r" b="b"/>
            <a:pathLst>
              <a:path w="3810000" h="12700">
                <a:moveTo>
                  <a:pt x="0" y="0"/>
                </a:moveTo>
                <a:lnTo>
                  <a:pt x="3810000" y="0"/>
                </a:lnTo>
                <a:lnTo>
                  <a:pt x="3810000" y="12700"/>
                </a:lnTo>
                <a:lnTo>
                  <a:pt x="0" y="12700"/>
                </a:lnTo>
                <a:lnTo>
                  <a:pt x="0" y="0"/>
                </a:lnTo>
                <a:close/>
              </a:path>
            </a:pathLst>
          </a:custGeom>
          <a:solidFill>
            <a:srgbClr val="5E81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4"/>
          <p:cNvSpPr/>
          <p:nvPr/>
        </p:nvSpPr>
        <p:spPr>
          <a:xfrm>
            <a:off x="508000" y="3919537"/>
            <a:ext cx="5791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问题定义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08000" y="5468938"/>
            <a:ext cx="5524500" cy="622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30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传统模型的痛点与核心问题目标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39750" y="655796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5E81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996950" y="6494463"/>
            <a:ext cx="4508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5E81A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Problem Definition &amp; Research Objectives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" y="628650"/>
            <a:ext cx="508000" cy="12700"/>
          </a:xfrm>
          <a:custGeom>
            <a:avLst/>
            <a:gdLst/>
            <a:ahLst/>
            <a:cxnLst/>
            <a:rect l="l" t="t" r="r" b="b"/>
            <a:pathLst>
              <a:path w="508000" h="12700">
                <a:moveTo>
                  <a:pt x="0" y="0"/>
                </a:moveTo>
                <a:lnTo>
                  <a:pt x="508000" y="0"/>
                </a:lnTo>
                <a:lnTo>
                  <a:pt x="508000" y="12700"/>
                </a:lnTo>
                <a:lnTo>
                  <a:pt x="0" y="12700"/>
                </a:lnTo>
                <a:lnTo>
                  <a:pt x="0" y="0"/>
                </a:lnTo>
                <a:close/>
              </a:path>
            </a:pathLst>
          </a:custGeom>
          <a:solidFill>
            <a:srgbClr val="5E81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1168400" y="508000"/>
            <a:ext cx="127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kern="0" spc="70" dirty="0">
                <a:solidFill>
                  <a:srgbClr val="5E81A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Pain Points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8000" y="8636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传统视觉模型与CLIP的痛点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33400" y="1625600"/>
            <a:ext cx="4914900" cy="3403600"/>
          </a:xfrm>
          <a:custGeom>
            <a:avLst/>
            <a:gdLst/>
            <a:ahLst/>
            <a:cxnLst/>
            <a:rect l="l" t="t" r="r" b="b"/>
            <a:pathLst>
              <a:path w="4914900" h="3403600">
                <a:moveTo>
                  <a:pt x="0" y="0"/>
                </a:moveTo>
                <a:lnTo>
                  <a:pt x="4914900" y="0"/>
                </a:lnTo>
                <a:lnTo>
                  <a:pt x="4914900" y="3403600"/>
                </a:lnTo>
                <a:lnTo>
                  <a:pt x="0" y="3403600"/>
                </a:lnTo>
                <a:lnTo>
                  <a:pt x="0" y="0"/>
                </a:lnTo>
                <a:close/>
              </a:path>
            </a:pathLst>
          </a:custGeom>
          <a:solidFill>
            <a:srgbClr val="4A4E56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533400" y="1625600"/>
            <a:ext cx="50800" cy="3403600"/>
          </a:xfrm>
          <a:custGeom>
            <a:avLst/>
            <a:gdLst/>
            <a:ahLst/>
            <a:cxnLst/>
            <a:rect l="l" t="t" r="r" b="b"/>
            <a:pathLst>
              <a:path w="50800" h="3403600">
                <a:moveTo>
                  <a:pt x="0" y="0"/>
                </a:moveTo>
                <a:lnTo>
                  <a:pt x="50800" y="0"/>
                </a:lnTo>
                <a:lnTo>
                  <a:pt x="50800" y="3403600"/>
                </a:lnTo>
                <a:lnTo>
                  <a:pt x="0" y="3403600"/>
                </a:lnTo>
                <a:lnTo>
                  <a:pt x="0" y="0"/>
                </a:lnTo>
                <a:close/>
              </a:path>
            </a:pathLst>
          </a:custGeom>
          <a:solidFill>
            <a:srgbClr val="5E81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812800" y="18796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0"/>
                </a:moveTo>
                <a:lnTo>
                  <a:pt x="609600" y="0"/>
                </a:lnTo>
                <a:lnTo>
                  <a:pt x="6096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5E81A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984250" y="20320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266700" y="122515"/>
                </a:moveTo>
                <a:cubicBezTo>
                  <a:pt x="257889" y="128349"/>
                  <a:pt x="247769" y="133052"/>
                  <a:pt x="237232" y="136803"/>
                </a:cubicBezTo>
                <a:cubicBezTo>
                  <a:pt x="209252" y="146804"/>
                  <a:pt x="172522" y="152400"/>
                  <a:pt x="133350" y="152400"/>
                </a:cubicBezTo>
                <a:cubicBezTo>
                  <a:pt x="94178" y="152400"/>
                  <a:pt x="57388" y="146745"/>
                  <a:pt x="29468" y="136803"/>
                </a:cubicBezTo>
                <a:cubicBezTo>
                  <a:pt x="18990" y="133052"/>
                  <a:pt x="8811" y="128349"/>
                  <a:pt x="0" y="122515"/>
                </a:cubicBezTo>
                <a:lnTo>
                  <a:pt x="0" y="171450"/>
                </a:lnTo>
                <a:cubicBezTo>
                  <a:pt x="0" y="197763"/>
                  <a:pt x="59710" y="219075"/>
                  <a:pt x="133350" y="219075"/>
                </a:cubicBezTo>
                <a:cubicBezTo>
                  <a:pt x="206990" y="219075"/>
                  <a:pt x="266700" y="197763"/>
                  <a:pt x="266700" y="171450"/>
                </a:cubicBezTo>
                <a:lnTo>
                  <a:pt x="266700" y="122515"/>
                </a:lnTo>
                <a:close/>
                <a:moveTo>
                  <a:pt x="266700" y="76200"/>
                </a:moveTo>
                <a:lnTo>
                  <a:pt x="266700" y="47625"/>
                </a:lnTo>
                <a:cubicBezTo>
                  <a:pt x="266700" y="21312"/>
                  <a:pt x="206990" y="0"/>
                  <a:pt x="133350" y="0"/>
                </a:cubicBezTo>
                <a:cubicBezTo>
                  <a:pt x="59710" y="0"/>
                  <a:pt x="0" y="21312"/>
                  <a:pt x="0" y="47625"/>
                </a:cubicBezTo>
                <a:lnTo>
                  <a:pt x="0" y="76200"/>
                </a:lnTo>
                <a:cubicBezTo>
                  <a:pt x="0" y="102513"/>
                  <a:pt x="59710" y="123825"/>
                  <a:pt x="133350" y="123825"/>
                </a:cubicBezTo>
                <a:cubicBezTo>
                  <a:pt x="206990" y="123825"/>
                  <a:pt x="266700" y="102513"/>
                  <a:pt x="266700" y="76200"/>
                </a:cubicBezTo>
                <a:close/>
                <a:moveTo>
                  <a:pt x="237232" y="232053"/>
                </a:moveTo>
                <a:cubicBezTo>
                  <a:pt x="209312" y="241995"/>
                  <a:pt x="172581" y="247650"/>
                  <a:pt x="133350" y="247650"/>
                </a:cubicBezTo>
                <a:cubicBezTo>
                  <a:pt x="94119" y="247650"/>
                  <a:pt x="57388" y="241995"/>
                  <a:pt x="29468" y="232053"/>
                </a:cubicBezTo>
                <a:cubicBezTo>
                  <a:pt x="18990" y="228302"/>
                  <a:pt x="8811" y="223599"/>
                  <a:pt x="0" y="217765"/>
                </a:cubicBezTo>
                <a:lnTo>
                  <a:pt x="0" y="257175"/>
                </a:lnTo>
                <a:cubicBezTo>
                  <a:pt x="0" y="283488"/>
                  <a:pt x="59710" y="304800"/>
                  <a:pt x="133350" y="304800"/>
                </a:cubicBezTo>
                <a:cubicBezTo>
                  <a:pt x="206990" y="304800"/>
                  <a:pt x="266700" y="283488"/>
                  <a:pt x="266700" y="257175"/>
                </a:cubicBezTo>
                <a:lnTo>
                  <a:pt x="266700" y="217765"/>
                </a:lnTo>
                <a:cubicBezTo>
                  <a:pt x="257889" y="223599"/>
                  <a:pt x="247769" y="228302"/>
                  <a:pt x="237232" y="232053"/>
                </a:cubicBezTo>
                <a:close/>
              </a:path>
            </a:pathLst>
          </a:custGeom>
          <a:solidFill>
            <a:srgbClr val="5E81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574800" y="2006600"/>
            <a:ext cx="1143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数据依赖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12800" y="2692400"/>
            <a:ext cx="4483100" cy="151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传统模型需要</a:t>
            </a:r>
            <a:r>
              <a:rPr lang="en-US" sz="1600" b="1" dirty="0">
                <a:solidFill>
                  <a:srgbClr val="5E81A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大量标注数据</a:t>
            </a:r>
            <a:r>
              <a:rPr lang="en-US" sz="1600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进行训练,数据获取成本高昂。CLIP虽支持零-shot,但聚焦全局语义,对局部细微特征(如划痕、病灶)不敏感,难以满足异常检测的精度要求。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12800" y="4364569"/>
            <a:ext cx="4381500" cy="8467"/>
          </a:xfrm>
          <a:custGeom>
            <a:avLst/>
            <a:gdLst/>
            <a:ahLst/>
            <a:cxnLst/>
            <a:rect l="l" t="t" r="r" b="b"/>
            <a:pathLst>
              <a:path w="4381500" h="8467">
                <a:moveTo>
                  <a:pt x="0" y="0"/>
                </a:moveTo>
                <a:lnTo>
                  <a:pt x="4381500" y="0"/>
                </a:lnTo>
                <a:lnTo>
                  <a:pt x="4381500" y="8467"/>
                </a:lnTo>
                <a:lnTo>
                  <a:pt x="0" y="8467"/>
                </a:lnTo>
                <a:lnTo>
                  <a:pt x="0" y="0"/>
                </a:lnTo>
                <a:close/>
              </a:path>
            </a:pathLst>
          </a:custGeom>
          <a:solidFill>
            <a:srgbClr val="4A4E5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838200" y="4555071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88900" y="0"/>
                </a:moveTo>
                <a:cubicBezTo>
                  <a:pt x="94005" y="0"/>
                  <a:pt x="98693" y="2813"/>
                  <a:pt x="101124" y="7293"/>
                </a:cubicBezTo>
                <a:lnTo>
                  <a:pt x="176133" y="146199"/>
                </a:lnTo>
                <a:cubicBezTo>
                  <a:pt x="178460" y="150505"/>
                  <a:pt x="178356" y="155714"/>
                  <a:pt x="175855" y="159916"/>
                </a:cubicBezTo>
                <a:cubicBezTo>
                  <a:pt x="173355" y="164118"/>
                  <a:pt x="168806" y="166688"/>
                  <a:pt x="163909" y="166688"/>
                </a:cubicBezTo>
                <a:lnTo>
                  <a:pt x="13891" y="166688"/>
                </a:lnTo>
                <a:cubicBezTo>
                  <a:pt x="8994" y="166688"/>
                  <a:pt x="4480" y="164118"/>
                  <a:pt x="1945" y="159916"/>
                </a:cubicBezTo>
                <a:cubicBezTo>
                  <a:pt x="-590" y="155714"/>
                  <a:pt x="-660" y="150505"/>
                  <a:pt x="1667" y="146199"/>
                </a:cubicBezTo>
                <a:lnTo>
                  <a:pt x="76676" y="7293"/>
                </a:lnTo>
                <a:cubicBezTo>
                  <a:pt x="79107" y="2813"/>
                  <a:pt x="83795" y="0"/>
                  <a:pt x="88900" y="0"/>
                </a:cubicBezTo>
                <a:close/>
                <a:moveTo>
                  <a:pt x="88900" y="58341"/>
                </a:moveTo>
                <a:cubicBezTo>
                  <a:pt x="84281" y="58341"/>
                  <a:pt x="80566" y="62056"/>
                  <a:pt x="80566" y="66675"/>
                </a:cubicBezTo>
                <a:lnTo>
                  <a:pt x="80566" y="105569"/>
                </a:lnTo>
                <a:cubicBezTo>
                  <a:pt x="80566" y="110187"/>
                  <a:pt x="84281" y="113903"/>
                  <a:pt x="88900" y="113903"/>
                </a:cubicBezTo>
                <a:cubicBezTo>
                  <a:pt x="93519" y="113903"/>
                  <a:pt x="97234" y="110187"/>
                  <a:pt x="97234" y="105569"/>
                </a:cubicBezTo>
                <a:lnTo>
                  <a:pt x="97234" y="66675"/>
                </a:lnTo>
                <a:cubicBezTo>
                  <a:pt x="97234" y="62056"/>
                  <a:pt x="93519" y="58341"/>
                  <a:pt x="88900" y="58341"/>
                </a:cubicBezTo>
                <a:close/>
                <a:moveTo>
                  <a:pt x="98172" y="133350"/>
                </a:moveTo>
                <a:cubicBezTo>
                  <a:pt x="98383" y="129908"/>
                  <a:pt x="96667" y="126634"/>
                  <a:pt x="93716" y="124849"/>
                </a:cubicBezTo>
                <a:cubicBezTo>
                  <a:pt x="90766" y="123065"/>
                  <a:pt x="87069" y="123065"/>
                  <a:pt x="84119" y="124849"/>
                </a:cubicBezTo>
                <a:cubicBezTo>
                  <a:pt x="81168" y="126634"/>
                  <a:pt x="79452" y="129908"/>
                  <a:pt x="79663" y="133350"/>
                </a:cubicBezTo>
                <a:cubicBezTo>
                  <a:pt x="79452" y="136792"/>
                  <a:pt x="81168" y="140066"/>
                  <a:pt x="84119" y="141851"/>
                </a:cubicBezTo>
                <a:cubicBezTo>
                  <a:pt x="87069" y="143635"/>
                  <a:pt x="90766" y="143635"/>
                  <a:pt x="93716" y="141851"/>
                </a:cubicBezTo>
                <a:cubicBezTo>
                  <a:pt x="96667" y="140066"/>
                  <a:pt x="98383" y="136792"/>
                  <a:pt x="98172" y="133350"/>
                </a:cubicBezTo>
                <a:close/>
              </a:path>
            </a:pathLst>
          </a:custGeom>
          <a:solidFill>
            <a:srgbClr val="5E81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1143000" y="4521200"/>
            <a:ext cx="4140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工业场景标注成本可达每张图像$50-100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681133" y="1625600"/>
            <a:ext cx="4914900" cy="3403600"/>
          </a:xfrm>
          <a:custGeom>
            <a:avLst/>
            <a:gdLst/>
            <a:ahLst/>
            <a:cxnLst/>
            <a:rect l="l" t="t" r="r" b="b"/>
            <a:pathLst>
              <a:path w="4914900" h="3403600">
                <a:moveTo>
                  <a:pt x="0" y="0"/>
                </a:moveTo>
                <a:lnTo>
                  <a:pt x="4914900" y="0"/>
                </a:lnTo>
                <a:lnTo>
                  <a:pt x="4914900" y="3403600"/>
                </a:lnTo>
                <a:lnTo>
                  <a:pt x="0" y="3403600"/>
                </a:lnTo>
                <a:lnTo>
                  <a:pt x="0" y="0"/>
                </a:lnTo>
                <a:close/>
              </a:path>
            </a:pathLst>
          </a:custGeom>
          <a:solidFill>
            <a:srgbClr val="4A4E56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5681133" y="1625600"/>
            <a:ext cx="50800" cy="3403600"/>
          </a:xfrm>
          <a:custGeom>
            <a:avLst/>
            <a:gdLst/>
            <a:ahLst/>
            <a:cxnLst/>
            <a:rect l="l" t="t" r="r" b="b"/>
            <a:pathLst>
              <a:path w="50800" h="3403600">
                <a:moveTo>
                  <a:pt x="0" y="0"/>
                </a:moveTo>
                <a:lnTo>
                  <a:pt x="50800" y="0"/>
                </a:lnTo>
                <a:lnTo>
                  <a:pt x="50800" y="3403600"/>
                </a:lnTo>
                <a:lnTo>
                  <a:pt x="0" y="3403600"/>
                </a:lnTo>
                <a:lnTo>
                  <a:pt x="0" y="0"/>
                </a:lnTo>
                <a:close/>
              </a:path>
            </a:pathLst>
          </a:custGeom>
          <a:solidFill>
            <a:srgbClr val="5E81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5960533" y="18796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0"/>
                </a:moveTo>
                <a:lnTo>
                  <a:pt x="609600" y="0"/>
                </a:lnTo>
                <a:lnTo>
                  <a:pt x="6096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5E81A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6093883" y="20320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133410" y="57805"/>
                </a:moveTo>
                <a:lnTo>
                  <a:pt x="133410" y="87332"/>
                </a:lnTo>
                <a:lnTo>
                  <a:pt x="133707" y="87630"/>
                </a:lnTo>
                <a:cubicBezTo>
                  <a:pt x="137577" y="38576"/>
                  <a:pt x="178594" y="0"/>
                  <a:pt x="228660" y="0"/>
                </a:cubicBezTo>
                <a:cubicBezTo>
                  <a:pt x="240625" y="0"/>
                  <a:pt x="252115" y="2203"/>
                  <a:pt x="262652" y="6251"/>
                </a:cubicBezTo>
                <a:cubicBezTo>
                  <a:pt x="268605" y="8513"/>
                  <a:pt x="269677" y="16073"/>
                  <a:pt x="265212" y="20598"/>
                </a:cubicBezTo>
                <a:lnTo>
                  <a:pt x="212408" y="73402"/>
                </a:lnTo>
                <a:cubicBezTo>
                  <a:pt x="210622" y="75188"/>
                  <a:pt x="209610" y="77629"/>
                  <a:pt x="209610" y="80129"/>
                </a:cubicBezTo>
                <a:lnTo>
                  <a:pt x="209610" y="104775"/>
                </a:lnTo>
                <a:cubicBezTo>
                  <a:pt x="209610" y="110014"/>
                  <a:pt x="213896" y="114300"/>
                  <a:pt x="219135" y="114300"/>
                </a:cubicBezTo>
                <a:lnTo>
                  <a:pt x="243780" y="114300"/>
                </a:lnTo>
                <a:cubicBezTo>
                  <a:pt x="246281" y="114300"/>
                  <a:pt x="248722" y="113288"/>
                  <a:pt x="250508" y="111502"/>
                </a:cubicBezTo>
                <a:lnTo>
                  <a:pt x="303312" y="58698"/>
                </a:lnTo>
                <a:cubicBezTo>
                  <a:pt x="307836" y="54173"/>
                  <a:pt x="315397" y="55305"/>
                  <a:pt x="317659" y="61258"/>
                </a:cubicBezTo>
                <a:cubicBezTo>
                  <a:pt x="321707" y="71795"/>
                  <a:pt x="323910" y="83284"/>
                  <a:pt x="323910" y="95250"/>
                </a:cubicBezTo>
                <a:cubicBezTo>
                  <a:pt x="323910" y="131326"/>
                  <a:pt x="303848" y="162758"/>
                  <a:pt x="274201" y="178891"/>
                </a:cubicBezTo>
                <a:lnTo>
                  <a:pt x="322719" y="227409"/>
                </a:lnTo>
                <a:cubicBezTo>
                  <a:pt x="333851" y="238542"/>
                  <a:pt x="333851" y="256639"/>
                  <a:pt x="322719" y="267831"/>
                </a:cubicBezTo>
                <a:lnTo>
                  <a:pt x="286941" y="303609"/>
                </a:lnTo>
                <a:cubicBezTo>
                  <a:pt x="275808" y="314742"/>
                  <a:pt x="257711" y="314742"/>
                  <a:pt x="246519" y="303609"/>
                </a:cubicBezTo>
                <a:lnTo>
                  <a:pt x="171510" y="228600"/>
                </a:lnTo>
                <a:cubicBezTo>
                  <a:pt x="155198" y="212288"/>
                  <a:pt x="151507" y="188178"/>
                  <a:pt x="160496" y="168295"/>
                </a:cubicBezTo>
                <a:lnTo>
                  <a:pt x="106501" y="114300"/>
                </a:lnTo>
                <a:lnTo>
                  <a:pt x="76974" y="114300"/>
                </a:lnTo>
                <a:cubicBezTo>
                  <a:pt x="70604" y="114300"/>
                  <a:pt x="64651" y="111145"/>
                  <a:pt x="61139" y="105847"/>
                </a:cubicBezTo>
                <a:lnTo>
                  <a:pt x="13930" y="35064"/>
                </a:lnTo>
                <a:cubicBezTo>
                  <a:pt x="11430" y="31313"/>
                  <a:pt x="11906" y="26253"/>
                  <a:pt x="15121" y="23039"/>
                </a:cubicBezTo>
                <a:lnTo>
                  <a:pt x="42148" y="-3989"/>
                </a:lnTo>
                <a:cubicBezTo>
                  <a:pt x="45363" y="-7203"/>
                  <a:pt x="50363" y="-7680"/>
                  <a:pt x="54173" y="-5179"/>
                </a:cubicBezTo>
                <a:lnTo>
                  <a:pt x="124956" y="41970"/>
                </a:lnTo>
                <a:cubicBezTo>
                  <a:pt x="130254" y="45482"/>
                  <a:pt x="133410" y="51435"/>
                  <a:pt x="133410" y="57805"/>
                </a:cubicBezTo>
                <a:close/>
                <a:moveTo>
                  <a:pt x="128349" y="176570"/>
                </a:moveTo>
                <a:cubicBezTo>
                  <a:pt x="124599" y="198596"/>
                  <a:pt x="129778" y="221873"/>
                  <a:pt x="144066" y="240506"/>
                </a:cubicBezTo>
                <a:lnTo>
                  <a:pt x="87511" y="297001"/>
                </a:lnTo>
                <a:cubicBezTo>
                  <a:pt x="70783" y="313730"/>
                  <a:pt x="43636" y="313730"/>
                  <a:pt x="26908" y="297001"/>
                </a:cubicBezTo>
                <a:cubicBezTo>
                  <a:pt x="10180" y="280273"/>
                  <a:pt x="10180" y="253127"/>
                  <a:pt x="26908" y="236399"/>
                </a:cubicBezTo>
                <a:lnTo>
                  <a:pt x="107513" y="155793"/>
                </a:lnTo>
                <a:lnTo>
                  <a:pt x="128349" y="176629"/>
                </a:lnTo>
                <a:close/>
              </a:path>
            </a:pathLst>
          </a:custGeom>
          <a:solidFill>
            <a:srgbClr val="5E81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6722534" y="2006600"/>
            <a:ext cx="1651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场景适配不足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960533" y="2692400"/>
            <a:ext cx="4483100" cy="151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CLIP的跨模态对齐未针对</a:t>
            </a:r>
            <a:r>
              <a:rPr lang="en-US" sz="1600" b="1" dirty="0">
                <a:solidFill>
                  <a:srgbClr val="5E81A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"局部异常"</a:t>
            </a:r>
            <a:r>
              <a:rPr lang="en-US" sz="1600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优化,难以满足异常检测的"识别+定位"双重需求。其CLS令牌聚焦全局语义,缺乏对像素级异常区域的感知能力。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960533" y="4364569"/>
            <a:ext cx="4381500" cy="8467"/>
          </a:xfrm>
          <a:custGeom>
            <a:avLst/>
            <a:gdLst/>
            <a:ahLst/>
            <a:cxnLst/>
            <a:rect l="l" t="t" r="r" b="b"/>
            <a:pathLst>
              <a:path w="4381500" h="8467">
                <a:moveTo>
                  <a:pt x="0" y="0"/>
                </a:moveTo>
                <a:lnTo>
                  <a:pt x="4381500" y="0"/>
                </a:lnTo>
                <a:lnTo>
                  <a:pt x="4381500" y="8467"/>
                </a:lnTo>
                <a:lnTo>
                  <a:pt x="0" y="8467"/>
                </a:lnTo>
                <a:lnTo>
                  <a:pt x="0" y="0"/>
                </a:lnTo>
                <a:close/>
              </a:path>
            </a:pathLst>
          </a:custGeom>
          <a:solidFill>
            <a:srgbClr val="4A4E5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5985933" y="4555071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88900" y="0"/>
                </a:moveTo>
                <a:cubicBezTo>
                  <a:pt x="94005" y="0"/>
                  <a:pt x="98693" y="2813"/>
                  <a:pt x="101124" y="7293"/>
                </a:cubicBezTo>
                <a:lnTo>
                  <a:pt x="176133" y="146199"/>
                </a:lnTo>
                <a:cubicBezTo>
                  <a:pt x="178460" y="150505"/>
                  <a:pt x="178356" y="155714"/>
                  <a:pt x="175855" y="159916"/>
                </a:cubicBezTo>
                <a:cubicBezTo>
                  <a:pt x="173355" y="164118"/>
                  <a:pt x="168806" y="166688"/>
                  <a:pt x="163909" y="166688"/>
                </a:cubicBezTo>
                <a:lnTo>
                  <a:pt x="13891" y="166688"/>
                </a:lnTo>
                <a:cubicBezTo>
                  <a:pt x="8994" y="166688"/>
                  <a:pt x="4480" y="164118"/>
                  <a:pt x="1945" y="159916"/>
                </a:cubicBezTo>
                <a:cubicBezTo>
                  <a:pt x="-590" y="155714"/>
                  <a:pt x="-660" y="150505"/>
                  <a:pt x="1667" y="146199"/>
                </a:cubicBezTo>
                <a:lnTo>
                  <a:pt x="76676" y="7293"/>
                </a:lnTo>
                <a:cubicBezTo>
                  <a:pt x="79107" y="2813"/>
                  <a:pt x="83795" y="0"/>
                  <a:pt x="88900" y="0"/>
                </a:cubicBezTo>
                <a:close/>
                <a:moveTo>
                  <a:pt x="88900" y="58341"/>
                </a:moveTo>
                <a:cubicBezTo>
                  <a:pt x="84281" y="58341"/>
                  <a:pt x="80566" y="62056"/>
                  <a:pt x="80566" y="66675"/>
                </a:cubicBezTo>
                <a:lnTo>
                  <a:pt x="80566" y="105569"/>
                </a:lnTo>
                <a:cubicBezTo>
                  <a:pt x="80566" y="110187"/>
                  <a:pt x="84281" y="113903"/>
                  <a:pt x="88900" y="113903"/>
                </a:cubicBezTo>
                <a:cubicBezTo>
                  <a:pt x="93519" y="113903"/>
                  <a:pt x="97234" y="110187"/>
                  <a:pt x="97234" y="105569"/>
                </a:cubicBezTo>
                <a:lnTo>
                  <a:pt x="97234" y="66675"/>
                </a:lnTo>
                <a:cubicBezTo>
                  <a:pt x="97234" y="62056"/>
                  <a:pt x="93519" y="58341"/>
                  <a:pt x="88900" y="58341"/>
                </a:cubicBezTo>
                <a:close/>
                <a:moveTo>
                  <a:pt x="98172" y="133350"/>
                </a:moveTo>
                <a:cubicBezTo>
                  <a:pt x="98383" y="129908"/>
                  <a:pt x="96667" y="126634"/>
                  <a:pt x="93716" y="124849"/>
                </a:cubicBezTo>
                <a:cubicBezTo>
                  <a:pt x="90766" y="123065"/>
                  <a:pt x="87069" y="123065"/>
                  <a:pt x="84119" y="124849"/>
                </a:cubicBezTo>
                <a:cubicBezTo>
                  <a:pt x="81168" y="126634"/>
                  <a:pt x="79452" y="129908"/>
                  <a:pt x="79663" y="133350"/>
                </a:cubicBezTo>
                <a:cubicBezTo>
                  <a:pt x="79452" y="136792"/>
                  <a:pt x="81168" y="140066"/>
                  <a:pt x="84119" y="141851"/>
                </a:cubicBezTo>
                <a:cubicBezTo>
                  <a:pt x="87069" y="143635"/>
                  <a:pt x="90766" y="143635"/>
                  <a:pt x="93716" y="141851"/>
                </a:cubicBezTo>
                <a:cubicBezTo>
                  <a:pt x="96667" y="140066"/>
                  <a:pt x="98383" y="136792"/>
                  <a:pt x="98172" y="133350"/>
                </a:cubicBezTo>
                <a:close/>
              </a:path>
            </a:pathLst>
          </a:custGeom>
          <a:solidFill>
            <a:srgbClr val="5E81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6290733" y="4521200"/>
            <a:ext cx="4140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在MVTec数据集上像素级AUROC仅91.1%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0828867" y="1625600"/>
            <a:ext cx="4914900" cy="3403600"/>
          </a:xfrm>
          <a:custGeom>
            <a:avLst/>
            <a:gdLst/>
            <a:ahLst/>
            <a:cxnLst/>
            <a:rect l="l" t="t" r="r" b="b"/>
            <a:pathLst>
              <a:path w="4914900" h="3403600">
                <a:moveTo>
                  <a:pt x="0" y="0"/>
                </a:moveTo>
                <a:lnTo>
                  <a:pt x="4914900" y="0"/>
                </a:lnTo>
                <a:lnTo>
                  <a:pt x="4914900" y="3403600"/>
                </a:lnTo>
                <a:lnTo>
                  <a:pt x="0" y="3403600"/>
                </a:lnTo>
                <a:lnTo>
                  <a:pt x="0" y="0"/>
                </a:lnTo>
                <a:close/>
              </a:path>
            </a:pathLst>
          </a:custGeom>
          <a:solidFill>
            <a:srgbClr val="4A4E56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10828867" y="1625600"/>
            <a:ext cx="50800" cy="3403600"/>
          </a:xfrm>
          <a:custGeom>
            <a:avLst/>
            <a:gdLst/>
            <a:ahLst/>
            <a:cxnLst/>
            <a:rect l="l" t="t" r="r" b="b"/>
            <a:pathLst>
              <a:path w="50800" h="3403600">
                <a:moveTo>
                  <a:pt x="0" y="0"/>
                </a:moveTo>
                <a:lnTo>
                  <a:pt x="50800" y="0"/>
                </a:lnTo>
                <a:lnTo>
                  <a:pt x="50800" y="3403600"/>
                </a:lnTo>
                <a:lnTo>
                  <a:pt x="0" y="3403600"/>
                </a:lnTo>
                <a:lnTo>
                  <a:pt x="0" y="0"/>
                </a:lnTo>
                <a:close/>
              </a:path>
            </a:pathLst>
          </a:custGeom>
          <a:solidFill>
            <a:srgbClr val="5E81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11108267" y="18796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0"/>
                </a:moveTo>
                <a:lnTo>
                  <a:pt x="609600" y="0"/>
                </a:lnTo>
                <a:lnTo>
                  <a:pt x="6096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5E81A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11260667" y="2032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65854" y="5596"/>
                </a:moveTo>
                <a:cubicBezTo>
                  <a:pt x="158413" y="-1845"/>
                  <a:pt x="146328" y="-1845"/>
                  <a:pt x="138886" y="5596"/>
                </a:cubicBezTo>
                <a:lnTo>
                  <a:pt x="100786" y="43696"/>
                </a:lnTo>
                <a:cubicBezTo>
                  <a:pt x="95310" y="49173"/>
                  <a:pt x="93702" y="57329"/>
                  <a:pt x="96679" y="64472"/>
                </a:cubicBezTo>
                <a:cubicBezTo>
                  <a:pt x="99655" y="71616"/>
                  <a:pt x="106620" y="76200"/>
                  <a:pt x="114300" y="76200"/>
                </a:cubicBezTo>
                <a:lnTo>
                  <a:pt x="133350" y="76200"/>
                </a:lnTo>
                <a:lnTo>
                  <a:pt x="133350" y="133350"/>
                </a:lnTo>
                <a:lnTo>
                  <a:pt x="76200" y="133350"/>
                </a:lnTo>
                <a:lnTo>
                  <a:pt x="76200" y="114300"/>
                </a:lnTo>
                <a:cubicBezTo>
                  <a:pt x="76200" y="106620"/>
                  <a:pt x="71557" y="99655"/>
                  <a:pt x="64413" y="96679"/>
                </a:cubicBezTo>
                <a:cubicBezTo>
                  <a:pt x="57269" y="93702"/>
                  <a:pt x="49113" y="95369"/>
                  <a:pt x="43636" y="100786"/>
                </a:cubicBezTo>
                <a:lnTo>
                  <a:pt x="5536" y="138886"/>
                </a:lnTo>
                <a:cubicBezTo>
                  <a:pt x="-1905" y="146328"/>
                  <a:pt x="-1905" y="158413"/>
                  <a:pt x="5536" y="165854"/>
                </a:cubicBezTo>
                <a:lnTo>
                  <a:pt x="43636" y="203954"/>
                </a:lnTo>
                <a:cubicBezTo>
                  <a:pt x="49113" y="209431"/>
                  <a:pt x="57269" y="211038"/>
                  <a:pt x="64413" y="208062"/>
                </a:cubicBezTo>
                <a:cubicBezTo>
                  <a:pt x="71557" y="205085"/>
                  <a:pt x="76200" y="198180"/>
                  <a:pt x="76200" y="190500"/>
                </a:cubicBezTo>
                <a:lnTo>
                  <a:pt x="76200" y="171450"/>
                </a:lnTo>
                <a:lnTo>
                  <a:pt x="133350" y="171450"/>
                </a:lnTo>
                <a:lnTo>
                  <a:pt x="133350" y="228600"/>
                </a:lnTo>
                <a:lnTo>
                  <a:pt x="114300" y="228600"/>
                </a:lnTo>
                <a:cubicBezTo>
                  <a:pt x="106620" y="228600"/>
                  <a:pt x="99655" y="233243"/>
                  <a:pt x="96679" y="240387"/>
                </a:cubicBezTo>
                <a:cubicBezTo>
                  <a:pt x="93702" y="247531"/>
                  <a:pt x="95369" y="255687"/>
                  <a:pt x="100786" y="261164"/>
                </a:cubicBezTo>
                <a:lnTo>
                  <a:pt x="138886" y="299264"/>
                </a:lnTo>
                <a:cubicBezTo>
                  <a:pt x="146328" y="306705"/>
                  <a:pt x="158413" y="306705"/>
                  <a:pt x="165854" y="299264"/>
                </a:cubicBezTo>
                <a:lnTo>
                  <a:pt x="203954" y="261164"/>
                </a:lnTo>
                <a:cubicBezTo>
                  <a:pt x="209431" y="255687"/>
                  <a:pt x="211038" y="247531"/>
                  <a:pt x="208062" y="240387"/>
                </a:cubicBezTo>
                <a:cubicBezTo>
                  <a:pt x="205085" y="233243"/>
                  <a:pt x="198180" y="228600"/>
                  <a:pt x="190500" y="228600"/>
                </a:cubicBezTo>
                <a:lnTo>
                  <a:pt x="171450" y="228600"/>
                </a:lnTo>
                <a:lnTo>
                  <a:pt x="171450" y="171450"/>
                </a:lnTo>
                <a:lnTo>
                  <a:pt x="228600" y="171450"/>
                </a:lnTo>
                <a:lnTo>
                  <a:pt x="228600" y="190500"/>
                </a:lnTo>
                <a:cubicBezTo>
                  <a:pt x="228600" y="198180"/>
                  <a:pt x="233243" y="205145"/>
                  <a:pt x="240387" y="208121"/>
                </a:cubicBezTo>
                <a:cubicBezTo>
                  <a:pt x="247531" y="211098"/>
                  <a:pt x="255687" y="209431"/>
                  <a:pt x="261164" y="204014"/>
                </a:cubicBezTo>
                <a:lnTo>
                  <a:pt x="299264" y="165914"/>
                </a:lnTo>
                <a:cubicBezTo>
                  <a:pt x="306705" y="158472"/>
                  <a:pt x="306705" y="146387"/>
                  <a:pt x="299264" y="138946"/>
                </a:cubicBezTo>
                <a:lnTo>
                  <a:pt x="261164" y="100846"/>
                </a:lnTo>
                <a:cubicBezTo>
                  <a:pt x="255687" y="95369"/>
                  <a:pt x="247531" y="93762"/>
                  <a:pt x="240387" y="96738"/>
                </a:cubicBezTo>
                <a:cubicBezTo>
                  <a:pt x="233243" y="99715"/>
                  <a:pt x="228600" y="106620"/>
                  <a:pt x="228600" y="114300"/>
                </a:cubicBezTo>
                <a:lnTo>
                  <a:pt x="228600" y="133350"/>
                </a:lnTo>
                <a:lnTo>
                  <a:pt x="171450" y="133350"/>
                </a:lnTo>
                <a:lnTo>
                  <a:pt x="171450" y="76200"/>
                </a:lnTo>
                <a:lnTo>
                  <a:pt x="190500" y="76200"/>
                </a:lnTo>
                <a:cubicBezTo>
                  <a:pt x="198180" y="76200"/>
                  <a:pt x="205145" y="71557"/>
                  <a:pt x="208121" y="64413"/>
                </a:cubicBezTo>
                <a:cubicBezTo>
                  <a:pt x="211098" y="57269"/>
                  <a:pt x="209431" y="49113"/>
                  <a:pt x="204014" y="43636"/>
                </a:cubicBezTo>
                <a:lnTo>
                  <a:pt x="165914" y="5536"/>
                </a:lnTo>
                <a:close/>
              </a:path>
            </a:pathLst>
          </a:custGeom>
          <a:solidFill>
            <a:srgbClr val="5E81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11870267" y="2006600"/>
            <a:ext cx="1143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泛化局限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108267" y="2692400"/>
            <a:ext cx="4483100" cy="151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跨领域迁移时,对</a:t>
            </a:r>
            <a:r>
              <a:rPr lang="en-US" sz="1600" b="1" dirty="0">
                <a:solidFill>
                  <a:srgbClr val="5E81A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工业、医疗</a:t>
            </a:r>
            <a:r>
              <a:rPr lang="en-US" sz="1600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等专业场景的异常模式捕捉能力弱。模型在通用场景训练的权重难以直接适配专业领域的细微差异,需要针对性优化。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1108267" y="4364569"/>
            <a:ext cx="4381500" cy="8467"/>
          </a:xfrm>
          <a:custGeom>
            <a:avLst/>
            <a:gdLst/>
            <a:ahLst/>
            <a:cxnLst/>
            <a:rect l="l" t="t" r="r" b="b"/>
            <a:pathLst>
              <a:path w="4381500" h="8467">
                <a:moveTo>
                  <a:pt x="0" y="0"/>
                </a:moveTo>
                <a:lnTo>
                  <a:pt x="4381500" y="0"/>
                </a:lnTo>
                <a:lnTo>
                  <a:pt x="4381500" y="8467"/>
                </a:lnTo>
                <a:lnTo>
                  <a:pt x="0" y="8467"/>
                </a:lnTo>
                <a:lnTo>
                  <a:pt x="0" y="0"/>
                </a:lnTo>
                <a:close/>
              </a:path>
            </a:pathLst>
          </a:custGeom>
          <a:solidFill>
            <a:srgbClr val="4A4E5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11133667" y="4555071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88900" y="0"/>
                </a:moveTo>
                <a:cubicBezTo>
                  <a:pt x="94005" y="0"/>
                  <a:pt x="98693" y="2813"/>
                  <a:pt x="101124" y="7293"/>
                </a:cubicBezTo>
                <a:lnTo>
                  <a:pt x="176133" y="146199"/>
                </a:lnTo>
                <a:cubicBezTo>
                  <a:pt x="178460" y="150505"/>
                  <a:pt x="178356" y="155714"/>
                  <a:pt x="175855" y="159916"/>
                </a:cubicBezTo>
                <a:cubicBezTo>
                  <a:pt x="173355" y="164118"/>
                  <a:pt x="168806" y="166688"/>
                  <a:pt x="163909" y="166688"/>
                </a:cubicBezTo>
                <a:lnTo>
                  <a:pt x="13891" y="166688"/>
                </a:lnTo>
                <a:cubicBezTo>
                  <a:pt x="8994" y="166688"/>
                  <a:pt x="4480" y="164118"/>
                  <a:pt x="1945" y="159916"/>
                </a:cubicBezTo>
                <a:cubicBezTo>
                  <a:pt x="-590" y="155714"/>
                  <a:pt x="-660" y="150505"/>
                  <a:pt x="1667" y="146199"/>
                </a:cubicBezTo>
                <a:lnTo>
                  <a:pt x="76676" y="7293"/>
                </a:lnTo>
                <a:cubicBezTo>
                  <a:pt x="79107" y="2813"/>
                  <a:pt x="83795" y="0"/>
                  <a:pt x="88900" y="0"/>
                </a:cubicBezTo>
                <a:close/>
                <a:moveTo>
                  <a:pt x="88900" y="58341"/>
                </a:moveTo>
                <a:cubicBezTo>
                  <a:pt x="84281" y="58341"/>
                  <a:pt x="80566" y="62056"/>
                  <a:pt x="80566" y="66675"/>
                </a:cubicBezTo>
                <a:lnTo>
                  <a:pt x="80566" y="105569"/>
                </a:lnTo>
                <a:cubicBezTo>
                  <a:pt x="80566" y="110187"/>
                  <a:pt x="84281" y="113903"/>
                  <a:pt x="88900" y="113903"/>
                </a:cubicBezTo>
                <a:cubicBezTo>
                  <a:pt x="93519" y="113903"/>
                  <a:pt x="97234" y="110187"/>
                  <a:pt x="97234" y="105569"/>
                </a:cubicBezTo>
                <a:lnTo>
                  <a:pt x="97234" y="66675"/>
                </a:lnTo>
                <a:cubicBezTo>
                  <a:pt x="97234" y="62056"/>
                  <a:pt x="93519" y="58341"/>
                  <a:pt x="88900" y="58341"/>
                </a:cubicBezTo>
                <a:close/>
                <a:moveTo>
                  <a:pt x="98172" y="133350"/>
                </a:moveTo>
                <a:cubicBezTo>
                  <a:pt x="98383" y="129908"/>
                  <a:pt x="96667" y="126634"/>
                  <a:pt x="93716" y="124849"/>
                </a:cubicBezTo>
                <a:cubicBezTo>
                  <a:pt x="90766" y="123065"/>
                  <a:pt x="87069" y="123065"/>
                  <a:pt x="84119" y="124849"/>
                </a:cubicBezTo>
                <a:cubicBezTo>
                  <a:pt x="81168" y="126634"/>
                  <a:pt x="79452" y="129908"/>
                  <a:pt x="79663" y="133350"/>
                </a:cubicBezTo>
                <a:cubicBezTo>
                  <a:pt x="79452" y="136792"/>
                  <a:pt x="81168" y="140066"/>
                  <a:pt x="84119" y="141851"/>
                </a:cubicBezTo>
                <a:cubicBezTo>
                  <a:pt x="87069" y="143635"/>
                  <a:pt x="90766" y="143635"/>
                  <a:pt x="93716" y="141851"/>
                </a:cubicBezTo>
                <a:cubicBezTo>
                  <a:pt x="96667" y="140066"/>
                  <a:pt x="98383" y="136792"/>
                  <a:pt x="98172" y="133350"/>
                </a:cubicBezTo>
                <a:close/>
              </a:path>
            </a:pathLst>
          </a:custGeom>
          <a:solidFill>
            <a:srgbClr val="5E81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11438467" y="4521200"/>
            <a:ext cx="4140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跨域性能下降可达15-20个百分点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12233" y="5236633"/>
            <a:ext cx="15235767" cy="3399367"/>
          </a:xfrm>
          <a:custGeom>
            <a:avLst/>
            <a:gdLst/>
            <a:ahLst/>
            <a:cxnLst/>
            <a:rect l="l" t="t" r="r" b="b"/>
            <a:pathLst>
              <a:path w="15235767" h="3399367">
                <a:moveTo>
                  <a:pt x="0" y="0"/>
                </a:moveTo>
                <a:lnTo>
                  <a:pt x="15235767" y="0"/>
                </a:lnTo>
                <a:lnTo>
                  <a:pt x="15235767" y="3399367"/>
                </a:lnTo>
                <a:lnTo>
                  <a:pt x="0" y="3399367"/>
                </a:lnTo>
                <a:lnTo>
                  <a:pt x="0" y="0"/>
                </a:lnTo>
                <a:close/>
              </a:path>
            </a:pathLst>
          </a:custGeom>
          <a:solidFill>
            <a:srgbClr val="5E81AC">
              <a:alpha val="10196"/>
            </a:srgbClr>
          </a:solidFill>
          <a:ln w="8467">
            <a:solidFill>
              <a:srgbClr val="5E81A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808567" y="5545671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38100"/>
                </a:moveTo>
                <a:cubicBezTo>
                  <a:pt x="38100" y="27563"/>
                  <a:pt x="29587" y="19050"/>
                  <a:pt x="19050" y="19050"/>
                </a:cubicBezTo>
                <a:cubicBezTo>
                  <a:pt x="8513" y="19050"/>
                  <a:pt x="0" y="27563"/>
                  <a:pt x="0" y="38100"/>
                </a:cubicBezTo>
                <a:lnTo>
                  <a:pt x="0" y="238125"/>
                </a:lnTo>
                <a:cubicBezTo>
                  <a:pt x="0" y="264438"/>
                  <a:pt x="21312" y="285750"/>
                  <a:pt x="47625" y="285750"/>
                </a:cubicBezTo>
                <a:lnTo>
                  <a:pt x="285750" y="285750"/>
                </a:lnTo>
                <a:cubicBezTo>
                  <a:pt x="296287" y="285750"/>
                  <a:pt x="304800" y="277237"/>
                  <a:pt x="304800" y="266700"/>
                </a:cubicBezTo>
                <a:cubicBezTo>
                  <a:pt x="304800" y="256163"/>
                  <a:pt x="296287" y="247650"/>
                  <a:pt x="285750" y="247650"/>
                </a:cubicBezTo>
                <a:lnTo>
                  <a:pt x="47625" y="247650"/>
                </a:lnTo>
                <a:cubicBezTo>
                  <a:pt x="42386" y="247650"/>
                  <a:pt x="38100" y="243364"/>
                  <a:pt x="38100" y="238125"/>
                </a:cubicBezTo>
                <a:lnTo>
                  <a:pt x="38100" y="38100"/>
                </a:lnTo>
                <a:close/>
                <a:moveTo>
                  <a:pt x="280154" y="89654"/>
                </a:moveTo>
                <a:cubicBezTo>
                  <a:pt x="287595" y="82213"/>
                  <a:pt x="287595" y="70128"/>
                  <a:pt x="280154" y="62686"/>
                </a:cubicBezTo>
                <a:cubicBezTo>
                  <a:pt x="272713" y="55245"/>
                  <a:pt x="260628" y="55245"/>
                  <a:pt x="253186" y="62686"/>
                </a:cubicBezTo>
                <a:lnTo>
                  <a:pt x="190500" y="125432"/>
                </a:lnTo>
                <a:lnTo>
                  <a:pt x="156329" y="91321"/>
                </a:lnTo>
                <a:cubicBezTo>
                  <a:pt x="148888" y="83880"/>
                  <a:pt x="136803" y="83880"/>
                  <a:pt x="129361" y="91321"/>
                </a:cubicBezTo>
                <a:lnTo>
                  <a:pt x="72211" y="148471"/>
                </a:lnTo>
                <a:cubicBezTo>
                  <a:pt x="64770" y="155912"/>
                  <a:pt x="64770" y="167997"/>
                  <a:pt x="72211" y="175439"/>
                </a:cubicBezTo>
                <a:cubicBezTo>
                  <a:pt x="79653" y="182880"/>
                  <a:pt x="91738" y="182880"/>
                  <a:pt x="99179" y="175439"/>
                </a:cubicBezTo>
                <a:lnTo>
                  <a:pt x="142875" y="131743"/>
                </a:lnTo>
                <a:lnTo>
                  <a:pt x="177046" y="165914"/>
                </a:lnTo>
                <a:cubicBezTo>
                  <a:pt x="184487" y="173355"/>
                  <a:pt x="196572" y="173355"/>
                  <a:pt x="204014" y="165914"/>
                </a:cubicBezTo>
                <a:lnTo>
                  <a:pt x="280214" y="89714"/>
                </a:lnTo>
                <a:close/>
              </a:path>
            </a:pathLst>
          </a:custGeom>
          <a:solidFill>
            <a:srgbClr val="5E81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1151467" y="5494871"/>
            <a:ext cx="144907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痛点总结:从通用到专用的鸿沟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70467" y="6104471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0" y="0"/>
                </a:moveTo>
                <a:lnTo>
                  <a:pt x="406400" y="0"/>
                </a:lnTo>
                <a:lnTo>
                  <a:pt x="406400" y="406400"/>
                </a:lnTo>
                <a:lnTo>
                  <a:pt x="0" y="406400"/>
                </a:lnTo>
                <a:lnTo>
                  <a:pt x="0" y="0"/>
                </a:lnTo>
                <a:close/>
              </a:path>
            </a:pathLst>
          </a:custGeom>
          <a:solidFill>
            <a:srgbClr val="5E81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719667" y="6104471"/>
            <a:ext cx="508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329267" y="6104471"/>
            <a:ext cx="6743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数据效率问题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329267" y="6460071"/>
            <a:ext cx="67310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传统监督学习范式下,模型性能与标注数据量强相关,导致在数据稀缺的专业领域难以直接应用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770467" y="7190321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0" y="0"/>
                </a:moveTo>
                <a:lnTo>
                  <a:pt x="406400" y="0"/>
                </a:lnTo>
                <a:lnTo>
                  <a:pt x="406400" y="406400"/>
                </a:lnTo>
                <a:lnTo>
                  <a:pt x="0" y="406400"/>
                </a:lnTo>
                <a:lnTo>
                  <a:pt x="0" y="0"/>
                </a:lnTo>
                <a:close/>
              </a:path>
            </a:pathLst>
          </a:custGeom>
          <a:solidFill>
            <a:srgbClr val="5E81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719667" y="7190321"/>
            <a:ext cx="508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329267" y="7190321"/>
            <a:ext cx="6743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特征粒度错配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329267" y="7545921"/>
            <a:ext cx="67310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CLIP的全局语义特征与异常检测所需的局部特征存在粒度错配,导致在精细异常识别任务上性能受限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280400" y="6104471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0" y="0"/>
                </a:moveTo>
                <a:lnTo>
                  <a:pt x="406400" y="0"/>
                </a:lnTo>
                <a:lnTo>
                  <a:pt x="406400" y="406400"/>
                </a:lnTo>
                <a:lnTo>
                  <a:pt x="0" y="406400"/>
                </a:lnTo>
                <a:lnTo>
                  <a:pt x="0" y="0"/>
                </a:lnTo>
                <a:close/>
              </a:path>
            </a:pathLst>
          </a:custGeom>
          <a:solidFill>
            <a:srgbClr val="5E81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8229600" y="6104471"/>
            <a:ext cx="508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839200" y="6104471"/>
            <a:ext cx="6743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架构适配不足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839200" y="6460071"/>
            <a:ext cx="67310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通用跨模态架构未针对异常检测的"分类+定位"双重任务优化,缺乏对空间细节的高效捕捉机制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280400" y="7190321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0" y="0"/>
                </a:moveTo>
                <a:lnTo>
                  <a:pt x="406400" y="0"/>
                </a:lnTo>
                <a:lnTo>
                  <a:pt x="406400" y="406400"/>
                </a:lnTo>
                <a:lnTo>
                  <a:pt x="0" y="406400"/>
                </a:lnTo>
                <a:lnTo>
                  <a:pt x="0" y="0"/>
                </a:lnTo>
                <a:close/>
              </a:path>
            </a:pathLst>
          </a:custGeom>
          <a:solidFill>
            <a:srgbClr val="5E81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8229600" y="7190321"/>
            <a:ext cx="508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839200" y="7190321"/>
            <a:ext cx="6743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跨域泛化挑战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839200" y="7545921"/>
            <a:ext cx="67310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模型在通用场景训练后难以直接适配专业领域,跨域迁移时性能显著下降,限制了实际应用范围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" y="628650"/>
            <a:ext cx="508000" cy="12700"/>
          </a:xfrm>
          <a:custGeom>
            <a:avLst/>
            <a:gdLst/>
            <a:ahLst/>
            <a:cxnLst/>
            <a:rect l="l" t="t" r="r" b="b"/>
            <a:pathLst>
              <a:path w="508000" h="12700">
                <a:moveTo>
                  <a:pt x="0" y="0"/>
                </a:moveTo>
                <a:lnTo>
                  <a:pt x="508000" y="0"/>
                </a:lnTo>
                <a:lnTo>
                  <a:pt x="508000" y="12700"/>
                </a:lnTo>
                <a:lnTo>
                  <a:pt x="0" y="12700"/>
                </a:lnTo>
                <a:lnTo>
                  <a:pt x="0" y="0"/>
                </a:lnTo>
                <a:close/>
              </a:path>
            </a:pathLst>
          </a:custGeom>
          <a:solidFill>
            <a:srgbClr val="5E81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1168400" y="508000"/>
            <a:ext cx="2260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kern="0" spc="70" dirty="0">
                <a:solidFill>
                  <a:srgbClr val="5E81A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Research Objectives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8000" y="8636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核心问题与目标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20700" y="1638300"/>
            <a:ext cx="5689600" cy="3378200"/>
          </a:xfrm>
          <a:custGeom>
            <a:avLst/>
            <a:gdLst/>
            <a:ahLst/>
            <a:cxnLst/>
            <a:rect l="l" t="t" r="r" b="b"/>
            <a:pathLst>
              <a:path w="5689600" h="3378200">
                <a:moveTo>
                  <a:pt x="0" y="0"/>
                </a:moveTo>
                <a:lnTo>
                  <a:pt x="5689600" y="0"/>
                </a:lnTo>
                <a:lnTo>
                  <a:pt x="5689600" y="3378200"/>
                </a:lnTo>
                <a:lnTo>
                  <a:pt x="0" y="3378200"/>
                </a:lnTo>
                <a:lnTo>
                  <a:pt x="0" y="0"/>
                </a:lnTo>
                <a:close/>
              </a:path>
            </a:pathLst>
          </a:custGeom>
          <a:solidFill>
            <a:srgbClr val="5E81AC">
              <a:alpha val="10196"/>
            </a:srgbClr>
          </a:solidFill>
          <a:ln w="25400">
            <a:solidFill>
              <a:srgbClr val="5E81A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825500" y="1955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66700" y="152400"/>
                </a:moveTo>
                <a:cubicBezTo>
                  <a:pt x="266700" y="89316"/>
                  <a:pt x="215484" y="38100"/>
                  <a:pt x="152400" y="38100"/>
                </a:cubicBezTo>
                <a:cubicBezTo>
                  <a:pt x="89316" y="38100"/>
                  <a:pt x="38100" y="89316"/>
                  <a:pt x="38100" y="152400"/>
                </a:cubicBezTo>
                <a:cubicBezTo>
                  <a:pt x="38100" y="215484"/>
                  <a:pt x="89316" y="266700"/>
                  <a:pt x="152400" y="266700"/>
                </a:cubicBezTo>
                <a:cubicBezTo>
                  <a:pt x="215484" y="266700"/>
                  <a:pt x="266700" y="215484"/>
                  <a:pt x="266700" y="152400"/>
                </a:cubicBezTo>
                <a:close/>
                <a:moveTo>
                  <a:pt x="0" y="152400"/>
                </a:moveTo>
                <a:cubicBezTo>
                  <a:pt x="0" y="68288"/>
                  <a:pt x="68288" y="0"/>
                  <a:pt x="152400" y="0"/>
                </a:cubicBezTo>
                <a:cubicBezTo>
                  <a:pt x="236512" y="0"/>
                  <a:pt x="304800" y="68288"/>
                  <a:pt x="304800" y="152400"/>
                </a:cubicBezTo>
                <a:cubicBezTo>
                  <a:pt x="304800" y="236512"/>
                  <a:pt x="236512" y="304800"/>
                  <a:pt x="152400" y="304800"/>
                </a:cubicBezTo>
                <a:cubicBezTo>
                  <a:pt x="68288" y="304800"/>
                  <a:pt x="0" y="236512"/>
                  <a:pt x="0" y="152400"/>
                </a:cubicBezTo>
                <a:close/>
                <a:moveTo>
                  <a:pt x="152400" y="200025"/>
                </a:moveTo>
                <a:cubicBezTo>
                  <a:pt x="178685" y="200025"/>
                  <a:pt x="200025" y="178685"/>
                  <a:pt x="200025" y="152400"/>
                </a:cubicBezTo>
                <a:cubicBezTo>
                  <a:pt x="200025" y="126115"/>
                  <a:pt x="178685" y="104775"/>
                  <a:pt x="152400" y="104775"/>
                </a:cubicBezTo>
                <a:cubicBezTo>
                  <a:pt x="126115" y="104775"/>
                  <a:pt x="104775" y="126115"/>
                  <a:pt x="104775" y="152400"/>
                </a:cubicBezTo>
                <a:cubicBezTo>
                  <a:pt x="104775" y="178685"/>
                  <a:pt x="126115" y="200025"/>
                  <a:pt x="152400" y="200025"/>
                </a:cubicBezTo>
                <a:close/>
                <a:moveTo>
                  <a:pt x="152400" y="66675"/>
                </a:moveTo>
                <a:cubicBezTo>
                  <a:pt x="199713" y="66675"/>
                  <a:pt x="238125" y="105087"/>
                  <a:pt x="238125" y="152400"/>
                </a:cubicBezTo>
                <a:cubicBezTo>
                  <a:pt x="238125" y="199713"/>
                  <a:pt x="199713" y="238125"/>
                  <a:pt x="152400" y="238125"/>
                </a:cubicBezTo>
                <a:cubicBezTo>
                  <a:pt x="105087" y="238125"/>
                  <a:pt x="66675" y="199713"/>
                  <a:pt x="66675" y="152400"/>
                </a:cubicBezTo>
                <a:cubicBezTo>
                  <a:pt x="66675" y="105087"/>
                  <a:pt x="105087" y="66675"/>
                  <a:pt x="152400" y="66675"/>
                </a:cubicBezTo>
                <a:close/>
                <a:moveTo>
                  <a:pt x="133350" y="152400"/>
                </a:moveTo>
                <a:cubicBezTo>
                  <a:pt x="133350" y="141886"/>
                  <a:pt x="141886" y="133350"/>
                  <a:pt x="152400" y="133350"/>
                </a:cubicBezTo>
                <a:cubicBezTo>
                  <a:pt x="162914" y="133350"/>
                  <a:pt x="171450" y="141886"/>
                  <a:pt x="171450" y="152400"/>
                </a:cubicBezTo>
                <a:cubicBezTo>
                  <a:pt x="171450" y="162914"/>
                  <a:pt x="162914" y="171450"/>
                  <a:pt x="152400" y="171450"/>
                </a:cubicBezTo>
                <a:cubicBezTo>
                  <a:pt x="141886" y="171450"/>
                  <a:pt x="133350" y="162914"/>
                  <a:pt x="133350" y="152400"/>
                </a:cubicBezTo>
                <a:close/>
              </a:path>
            </a:pathLst>
          </a:custGeom>
          <a:solidFill>
            <a:srgbClr val="5E81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168400" y="1905000"/>
            <a:ext cx="4927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核心目标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87400" y="2463800"/>
            <a:ext cx="5270500" cy="749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</a:t>
            </a:r>
            <a:r>
              <a:rPr lang="en-US" sz="1800" b="1" dirty="0">
                <a:solidFill>
                  <a:srgbClr val="5E81A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无目标域标注数据</a:t>
            </a:r>
            <a:r>
              <a:rPr lang="en-US" sz="1800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的零-shot场景下,实现</a:t>
            </a:r>
            <a:r>
              <a:rPr lang="en-US" sz="1800" b="1" dirty="0">
                <a:solidFill>
                  <a:srgbClr val="5E81A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图像级异常分类</a:t>
            </a:r>
            <a:r>
              <a:rPr lang="en-US" sz="1800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与</a:t>
            </a:r>
            <a:r>
              <a:rPr lang="en-US" sz="1800" b="1" dirty="0">
                <a:solidFill>
                  <a:srgbClr val="5E81A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像素级异常定位</a:t>
            </a:r>
            <a:r>
              <a:rPr lang="en-US" sz="1800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87400" y="4339169"/>
            <a:ext cx="5156200" cy="8467"/>
          </a:xfrm>
          <a:custGeom>
            <a:avLst/>
            <a:gdLst/>
            <a:ahLst/>
            <a:cxnLst/>
            <a:rect l="l" t="t" r="r" b="b"/>
            <a:pathLst>
              <a:path w="5156200" h="8467">
                <a:moveTo>
                  <a:pt x="0" y="0"/>
                </a:moveTo>
                <a:lnTo>
                  <a:pt x="5156200" y="0"/>
                </a:lnTo>
                <a:lnTo>
                  <a:pt x="5156200" y="8467"/>
                </a:lnTo>
                <a:lnTo>
                  <a:pt x="0" y="8467"/>
                </a:lnTo>
                <a:lnTo>
                  <a:pt x="0" y="0"/>
                </a:lnTo>
                <a:close/>
              </a:path>
            </a:pathLst>
          </a:custGeom>
          <a:solidFill>
            <a:srgbClr val="4A4E5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812800" y="4529671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88900" y="177800"/>
                </a:moveTo>
                <a:cubicBezTo>
                  <a:pt x="137965" y="177800"/>
                  <a:pt x="177800" y="137965"/>
                  <a:pt x="177800" y="88900"/>
                </a:cubicBezTo>
                <a:cubicBezTo>
                  <a:pt x="177800" y="39835"/>
                  <a:pt x="137965" y="0"/>
                  <a:pt x="88900" y="0"/>
                </a:cubicBezTo>
                <a:cubicBezTo>
                  <a:pt x="39835" y="0"/>
                  <a:pt x="0" y="39835"/>
                  <a:pt x="0" y="88900"/>
                </a:cubicBezTo>
                <a:cubicBezTo>
                  <a:pt x="0" y="137965"/>
                  <a:pt x="39835" y="177800"/>
                  <a:pt x="88900" y="177800"/>
                </a:cubicBezTo>
                <a:close/>
                <a:moveTo>
                  <a:pt x="77788" y="55563"/>
                </a:moveTo>
                <a:cubicBezTo>
                  <a:pt x="77788" y="49429"/>
                  <a:pt x="82767" y="44450"/>
                  <a:pt x="88900" y="44450"/>
                </a:cubicBezTo>
                <a:cubicBezTo>
                  <a:pt x="95033" y="44450"/>
                  <a:pt x="100013" y="49429"/>
                  <a:pt x="100013" y="55563"/>
                </a:cubicBezTo>
                <a:cubicBezTo>
                  <a:pt x="100013" y="61696"/>
                  <a:pt x="95033" y="66675"/>
                  <a:pt x="88900" y="66675"/>
                </a:cubicBezTo>
                <a:cubicBezTo>
                  <a:pt x="82767" y="66675"/>
                  <a:pt x="77788" y="61696"/>
                  <a:pt x="77788" y="55563"/>
                </a:cubicBezTo>
                <a:close/>
                <a:moveTo>
                  <a:pt x="75009" y="77788"/>
                </a:moveTo>
                <a:lnTo>
                  <a:pt x="91678" y="77788"/>
                </a:lnTo>
                <a:cubicBezTo>
                  <a:pt x="96297" y="77788"/>
                  <a:pt x="100013" y="81503"/>
                  <a:pt x="100013" y="86122"/>
                </a:cubicBezTo>
                <a:lnTo>
                  <a:pt x="100013" y="116681"/>
                </a:lnTo>
                <a:lnTo>
                  <a:pt x="102791" y="116681"/>
                </a:lnTo>
                <a:cubicBezTo>
                  <a:pt x="107409" y="116681"/>
                  <a:pt x="111125" y="120397"/>
                  <a:pt x="111125" y="125016"/>
                </a:cubicBezTo>
                <a:cubicBezTo>
                  <a:pt x="111125" y="129634"/>
                  <a:pt x="107409" y="133350"/>
                  <a:pt x="102791" y="133350"/>
                </a:cubicBezTo>
                <a:lnTo>
                  <a:pt x="75009" y="133350"/>
                </a:lnTo>
                <a:cubicBezTo>
                  <a:pt x="70391" y="133350"/>
                  <a:pt x="66675" y="129634"/>
                  <a:pt x="66675" y="125016"/>
                </a:cubicBezTo>
                <a:cubicBezTo>
                  <a:pt x="66675" y="120397"/>
                  <a:pt x="70391" y="116681"/>
                  <a:pt x="75009" y="116681"/>
                </a:cubicBezTo>
                <a:lnTo>
                  <a:pt x="83344" y="116681"/>
                </a:lnTo>
                <a:lnTo>
                  <a:pt x="83344" y="94456"/>
                </a:lnTo>
                <a:lnTo>
                  <a:pt x="75009" y="94456"/>
                </a:lnTo>
                <a:cubicBezTo>
                  <a:pt x="70391" y="94456"/>
                  <a:pt x="66675" y="90741"/>
                  <a:pt x="66675" y="86122"/>
                </a:cubicBezTo>
                <a:cubicBezTo>
                  <a:pt x="66675" y="81503"/>
                  <a:pt x="70391" y="77788"/>
                  <a:pt x="75009" y="77788"/>
                </a:cubicBezTo>
                <a:close/>
              </a:path>
            </a:pathLst>
          </a:custGeom>
          <a:solidFill>
            <a:srgbClr val="5E81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1117600" y="4495800"/>
            <a:ext cx="4914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突破传统模型对标注数据的强依赖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12233" y="5236633"/>
            <a:ext cx="5710767" cy="3399367"/>
          </a:xfrm>
          <a:custGeom>
            <a:avLst/>
            <a:gdLst/>
            <a:ahLst/>
            <a:cxnLst/>
            <a:rect l="l" t="t" r="r" b="b"/>
            <a:pathLst>
              <a:path w="5710767" h="3399367">
                <a:moveTo>
                  <a:pt x="0" y="0"/>
                </a:moveTo>
                <a:lnTo>
                  <a:pt x="5710767" y="0"/>
                </a:lnTo>
                <a:lnTo>
                  <a:pt x="5710767" y="3399367"/>
                </a:lnTo>
                <a:lnTo>
                  <a:pt x="0" y="3399367"/>
                </a:lnTo>
                <a:lnTo>
                  <a:pt x="0" y="0"/>
                </a:lnTo>
                <a:close/>
              </a:path>
            </a:pathLst>
          </a:custGeom>
          <a:solidFill>
            <a:srgbClr val="4A4E56">
              <a:alpha val="20000"/>
            </a:srgbClr>
          </a:solidFill>
          <a:ln w="8467">
            <a:solidFill>
              <a:srgbClr val="4A4E5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802217" y="5545671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254000"/>
                </a:moveTo>
                <a:cubicBezTo>
                  <a:pt x="197093" y="254000"/>
                  <a:pt x="254000" y="197093"/>
                  <a:pt x="254000" y="127000"/>
                </a:cubicBezTo>
                <a:cubicBezTo>
                  <a:pt x="254000" y="56907"/>
                  <a:pt x="197093" y="0"/>
                  <a:pt x="127000" y="0"/>
                </a:cubicBezTo>
                <a:cubicBezTo>
                  <a:pt x="56907" y="0"/>
                  <a:pt x="0" y="56907"/>
                  <a:pt x="0" y="127000"/>
                </a:cubicBezTo>
                <a:cubicBezTo>
                  <a:pt x="0" y="197093"/>
                  <a:pt x="56907" y="254000"/>
                  <a:pt x="127000" y="254000"/>
                </a:cubicBezTo>
                <a:close/>
                <a:moveTo>
                  <a:pt x="127000" y="67469"/>
                </a:moveTo>
                <a:cubicBezTo>
                  <a:pt x="133598" y="67469"/>
                  <a:pt x="138906" y="72777"/>
                  <a:pt x="138906" y="79375"/>
                </a:cubicBezTo>
                <a:lnTo>
                  <a:pt x="138906" y="134938"/>
                </a:lnTo>
                <a:cubicBezTo>
                  <a:pt x="138906" y="141536"/>
                  <a:pt x="133598" y="146844"/>
                  <a:pt x="127000" y="146844"/>
                </a:cubicBezTo>
                <a:cubicBezTo>
                  <a:pt x="120402" y="146844"/>
                  <a:pt x="115094" y="141536"/>
                  <a:pt x="115094" y="134938"/>
                </a:cubicBezTo>
                <a:lnTo>
                  <a:pt x="115094" y="79375"/>
                </a:lnTo>
                <a:cubicBezTo>
                  <a:pt x="115094" y="72777"/>
                  <a:pt x="120402" y="67469"/>
                  <a:pt x="127000" y="67469"/>
                </a:cubicBezTo>
                <a:close/>
                <a:moveTo>
                  <a:pt x="113754" y="174625"/>
                </a:moveTo>
                <a:cubicBezTo>
                  <a:pt x="113453" y="169708"/>
                  <a:pt x="115905" y="165031"/>
                  <a:pt x="120120" y="162481"/>
                </a:cubicBezTo>
                <a:cubicBezTo>
                  <a:pt x="124334" y="159932"/>
                  <a:pt x="129616" y="159932"/>
                  <a:pt x="133831" y="162481"/>
                </a:cubicBezTo>
                <a:cubicBezTo>
                  <a:pt x="138045" y="165031"/>
                  <a:pt x="140497" y="169708"/>
                  <a:pt x="140196" y="174625"/>
                </a:cubicBezTo>
                <a:cubicBezTo>
                  <a:pt x="140497" y="179542"/>
                  <a:pt x="138045" y="184219"/>
                  <a:pt x="133831" y="186769"/>
                </a:cubicBezTo>
                <a:cubicBezTo>
                  <a:pt x="129616" y="189318"/>
                  <a:pt x="124334" y="189318"/>
                  <a:pt x="120120" y="186769"/>
                </a:cubicBezTo>
                <a:cubicBezTo>
                  <a:pt x="115905" y="184219"/>
                  <a:pt x="113453" y="179542"/>
                  <a:pt x="113754" y="174625"/>
                </a:cubicBezTo>
                <a:close/>
              </a:path>
            </a:pathLst>
          </a:custGeom>
          <a:solidFill>
            <a:srgbClr val="5E81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1087967" y="5494871"/>
            <a:ext cx="5003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关键挑战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70467" y="6002871"/>
            <a:ext cx="52959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平衡</a:t>
            </a:r>
            <a:r>
              <a:rPr lang="en-US" sz="1600" b="1" dirty="0">
                <a:solidFill>
                  <a:srgbClr val="5E81A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"全局跨模态对齐"</a:t>
            </a:r>
            <a:r>
              <a:rPr lang="en-US" sz="1600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与</a:t>
            </a:r>
            <a:r>
              <a:rPr lang="en-US" sz="1600" b="1" dirty="0">
                <a:solidFill>
                  <a:srgbClr val="5E81A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"局部异常感知"</a:t>
            </a:r>
            <a:r>
              <a:rPr lang="en-US" sz="1600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,在不依赖目标域数据的前提下提升局部特征敏感度。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70467" y="6815671"/>
            <a:ext cx="5283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→ 避免灾难性遗忘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70467" y="7120471"/>
            <a:ext cx="5283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→ 保持零-shot泛化能力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81233" y="1629833"/>
            <a:ext cx="9266767" cy="7006167"/>
          </a:xfrm>
          <a:custGeom>
            <a:avLst/>
            <a:gdLst/>
            <a:ahLst/>
            <a:cxnLst/>
            <a:rect l="l" t="t" r="r" b="b"/>
            <a:pathLst>
              <a:path w="9266767" h="7006167">
                <a:moveTo>
                  <a:pt x="0" y="0"/>
                </a:moveTo>
                <a:lnTo>
                  <a:pt x="9266767" y="0"/>
                </a:lnTo>
                <a:lnTo>
                  <a:pt x="9266767" y="7006167"/>
                </a:lnTo>
                <a:lnTo>
                  <a:pt x="0" y="7006167"/>
                </a:lnTo>
                <a:lnTo>
                  <a:pt x="0" y="0"/>
                </a:lnTo>
                <a:close/>
              </a:path>
            </a:pathLst>
          </a:custGeom>
          <a:solidFill>
            <a:srgbClr val="4A4E56">
              <a:alpha val="20000"/>
            </a:srgbClr>
          </a:solidFill>
          <a:ln w="8467">
            <a:solidFill>
              <a:srgbClr val="4A4E5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6758517" y="1938871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214789" y="714"/>
                </a:moveTo>
                <a:cubicBezTo>
                  <a:pt x="204668" y="-2203"/>
                  <a:pt x="194131" y="3691"/>
                  <a:pt x="191214" y="13811"/>
                </a:cubicBezTo>
                <a:lnTo>
                  <a:pt x="115014" y="280511"/>
                </a:lnTo>
                <a:cubicBezTo>
                  <a:pt x="112097" y="290632"/>
                  <a:pt x="117991" y="301169"/>
                  <a:pt x="128111" y="304086"/>
                </a:cubicBezTo>
                <a:cubicBezTo>
                  <a:pt x="138232" y="307003"/>
                  <a:pt x="148769" y="301109"/>
                  <a:pt x="151686" y="290989"/>
                </a:cubicBezTo>
                <a:lnTo>
                  <a:pt x="227886" y="24289"/>
                </a:lnTo>
                <a:cubicBezTo>
                  <a:pt x="230803" y="14168"/>
                  <a:pt x="224909" y="3631"/>
                  <a:pt x="214789" y="714"/>
                </a:cubicBezTo>
                <a:close/>
                <a:moveTo>
                  <a:pt x="253246" y="81736"/>
                </a:moveTo>
                <a:cubicBezTo>
                  <a:pt x="245805" y="89178"/>
                  <a:pt x="245805" y="101263"/>
                  <a:pt x="253246" y="108704"/>
                </a:cubicBezTo>
                <a:lnTo>
                  <a:pt x="296942" y="152400"/>
                </a:lnTo>
                <a:lnTo>
                  <a:pt x="253246" y="196096"/>
                </a:lnTo>
                <a:cubicBezTo>
                  <a:pt x="245805" y="203537"/>
                  <a:pt x="245805" y="215622"/>
                  <a:pt x="253246" y="223064"/>
                </a:cubicBezTo>
                <a:cubicBezTo>
                  <a:pt x="260687" y="230505"/>
                  <a:pt x="272772" y="230505"/>
                  <a:pt x="280214" y="223064"/>
                </a:cubicBezTo>
                <a:lnTo>
                  <a:pt x="337364" y="165914"/>
                </a:lnTo>
                <a:cubicBezTo>
                  <a:pt x="344805" y="158472"/>
                  <a:pt x="344805" y="146387"/>
                  <a:pt x="337364" y="138946"/>
                </a:cubicBezTo>
                <a:lnTo>
                  <a:pt x="280214" y="81796"/>
                </a:lnTo>
                <a:cubicBezTo>
                  <a:pt x="272772" y="74355"/>
                  <a:pt x="260687" y="74355"/>
                  <a:pt x="253246" y="81796"/>
                </a:cubicBezTo>
                <a:close/>
                <a:moveTo>
                  <a:pt x="89714" y="81736"/>
                </a:moveTo>
                <a:cubicBezTo>
                  <a:pt x="82272" y="74295"/>
                  <a:pt x="70187" y="74295"/>
                  <a:pt x="62746" y="81736"/>
                </a:cubicBezTo>
                <a:lnTo>
                  <a:pt x="5596" y="138886"/>
                </a:lnTo>
                <a:cubicBezTo>
                  <a:pt x="-1845" y="146328"/>
                  <a:pt x="-1845" y="158413"/>
                  <a:pt x="5596" y="165854"/>
                </a:cubicBezTo>
                <a:lnTo>
                  <a:pt x="62746" y="223004"/>
                </a:lnTo>
                <a:cubicBezTo>
                  <a:pt x="70187" y="230445"/>
                  <a:pt x="82272" y="230445"/>
                  <a:pt x="89714" y="223004"/>
                </a:cubicBezTo>
                <a:cubicBezTo>
                  <a:pt x="97155" y="215563"/>
                  <a:pt x="97155" y="203478"/>
                  <a:pt x="89714" y="196036"/>
                </a:cubicBezTo>
                <a:lnTo>
                  <a:pt x="46018" y="152400"/>
                </a:lnTo>
                <a:lnTo>
                  <a:pt x="89654" y="108704"/>
                </a:lnTo>
                <a:cubicBezTo>
                  <a:pt x="97095" y="101263"/>
                  <a:pt x="97095" y="89178"/>
                  <a:pt x="89654" y="81736"/>
                </a:cubicBezTo>
                <a:close/>
              </a:path>
            </a:pathLst>
          </a:custGeom>
          <a:solidFill>
            <a:srgbClr val="5E81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7120467" y="1888071"/>
            <a:ext cx="85217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问题公式化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764867" y="2497671"/>
            <a:ext cx="8724900" cy="1955800"/>
          </a:xfrm>
          <a:custGeom>
            <a:avLst/>
            <a:gdLst/>
            <a:ahLst/>
            <a:cxnLst/>
            <a:rect l="l" t="t" r="r" b="b"/>
            <a:pathLst>
              <a:path w="8724900" h="1955800">
                <a:moveTo>
                  <a:pt x="0" y="0"/>
                </a:moveTo>
                <a:lnTo>
                  <a:pt x="8724900" y="0"/>
                </a:lnTo>
                <a:lnTo>
                  <a:pt x="8724900" y="1955800"/>
                </a:lnTo>
                <a:lnTo>
                  <a:pt x="0" y="1955800"/>
                </a:lnTo>
                <a:lnTo>
                  <a:pt x="0" y="0"/>
                </a:lnTo>
                <a:close/>
              </a:path>
            </a:pathLst>
          </a:custGeom>
          <a:solidFill>
            <a:srgbClr val="5E81AC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6764867" y="2497671"/>
            <a:ext cx="50800" cy="1955800"/>
          </a:xfrm>
          <a:custGeom>
            <a:avLst/>
            <a:gdLst/>
            <a:ahLst/>
            <a:cxnLst/>
            <a:rect l="l" t="t" r="r" b="b"/>
            <a:pathLst>
              <a:path w="50800" h="1955800">
                <a:moveTo>
                  <a:pt x="0" y="0"/>
                </a:moveTo>
                <a:lnTo>
                  <a:pt x="50800" y="0"/>
                </a:lnTo>
                <a:lnTo>
                  <a:pt x="50800" y="1955800"/>
                </a:lnTo>
                <a:lnTo>
                  <a:pt x="0" y="1955800"/>
                </a:lnTo>
                <a:lnTo>
                  <a:pt x="0" y="0"/>
                </a:lnTo>
                <a:close/>
              </a:path>
            </a:pathLst>
          </a:custGeom>
          <a:solidFill>
            <a:srgbClr val="5E81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6993467" y="2700871"/>
            <a:ext cx="8394700" cy="673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给定无标注目标域图像集合 </a:t>
            </a:r>
            <a:r>
              <a:rPr lang="en-US" sz="1600" dirty="0">
                <a:solidFill>
                  <a:srgbClr val="5E81AC"/>
                </a:solidFill>
                <a:highlight>
                  <a:srgbClr val="1A1D21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X = {x₁, x₂, ..., xₙ} </a:t>
            </a:r>
            <a:r>
              <a:rPr lang="en-US" sz="1600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利用跨模态预训练模型,通过文本提示词引导,输出: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018867" y="3577171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89019" y="-992"/>
                </a:moveTo>
                <a:cubicBezTo>
                  <a:pt x="96877" y="-5517"/>
                  <a:pt x="106561" y="-5517"/>
                  <a:pt x="114419" y="-992"/>
                </a:cubicBezTo>
                <a:lnTo>
                  <a:pt x="184229" y="39291"/>
                </a:lnTo>
                <a:cubicBezTo>
                  <a:pt x="192088" y="43815"/>
                  <a:pt x="196929" y="52229"/>
                  <a:pt x="196929" y="61278"/>
                </a:cubicBezTo>
                <a:lnTo>
                  <a:pt x="196929" y="141843"/>
                </a:lnTo>
                <a:cubicBezTo>
                  <a:pt x="196929" y="150932"/>
                  <a:pt x="192088" y="159306"/>
                  <a:pt x="184229" y="163830"/>
                </a:cubicBezTo>
                <a:lnTo>
                  <a:pt x="114419" y="204192"/>
                </a:lnTo>
                <a:cubicBezTo>
                  <a:pt x="106561" y="208717"/>
                  <a:pt x="96877" y="208717"/>
                  <a:pt x="89019" y="204192"/>
                </a:cubicBezTo>
                <a:lnTo>
                  <a:pt x="19248" y="163909"/>
                </a:lnTo>
                <a:cubicBezTo>
                  <a:pt x="11390" y="159385"/>
                  <a:pt x="6548" y="150971"/>
                  <a:pt x="6548" y="141923"/>
                </a:cubicBezTo>
                <a:lnTo>
                  <a:pt x="6548" y="61357"/>
                </a:lnTo>
                <a:cubicBezTo>
                  <a:pt x="6548" y="52268"/>
                  <a:pt x="11390" y="43894"/>
                  <a:pt x="19248" y="39370"/>
                </a:cubicBezTo>
                <a:lnTo>
                  <a:pt x="89019" y="-992"/>
                </a:lnTo>
                <a:close/>
                <a:moveTo>
                  <a:pt x="171490" y="141883"/>
                </a:moveTo>
                <a:lnTo>
                  <a:pt x="171490" y="75962"/>
                </a:lnTo>
                <a:lnTo>
                  <a:pt x="114419" y="108903"/>
                </a:lnTo>
                <a:lnTo>
                  <a:pt x="114419" y="174823"/>
                </a:lnTo>
                <a:lnTo>
                  <a:pt x="171490" y="141883"/>
                </a:lnTo>
                <a:close/>
              </a:path>
            </a:pathLst>
          </a:custGeom>
          <a:solidFill>
            <a:srgbClr val="5E81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7399867" y="3539071"/>
            <a:ext cx="1573213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图像级异常概率: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930217" y="3513671"/>
            <a:ext cx="1411949" cy="338667"/>
          </a:xfrm>
          <a:custGeom>
            <a:avLst/>
            <a:gdLst/>
            <a:ahLst/>
            <a:cxnLst/>
            <a:rect l="l" t="t" r="r" b="b"/>
            <a:pathLst>
              <a:path w="1411949" h="338667">
                <a:moveTo>
                  <a:pt x="0" y="0"/>
                </a:moveTo>
                <a:lnTo>
                  <a:pt x="1411949" y="0"/>
                </a:lnTo>
                <a:lnTo>
                  <a:pt x="1411949" y="338667"/>
                </a:lnTo>
                <a:lnTo>
                  <a:pt x="0" y="338667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8930217" y="3513671"/>
            <a:ext cx="1513549" cy="338667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5E81A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 ∈ [0, 1]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031567" y="3992035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152400" y="38100"/>
                </a:moveTo>
                <a:lnTo>
                  <a:pt x="152400" y="63500"/>
                </a:lnTo>
                <a:lnTo>
                  <a:pt x="127000" y="63500"/>
                </a:lnTo>
                <a:lnTo>
                  <a:pt x="127000" y="38100"/>
                </a:lnTo>
                <a:lnTo>
                  <a:pt x="152400" y="38100"/>
                </a:lnTo>
                <a:close/>
                <a:moveTo>
                  <a:pt x="152400" y="88900"/>
                </a:moveTo>
                <a:lnTo>
                  <a:pt x="152400" y="114300"/>
                </a:lnTo>
                <a:lnTo>
                  <a:pt x="127000" y="114300"/>
                </a:lnTo>
                <a:lnTo>
                  <a:pt x="127000" y="88900"/>
                </a:lnTo>
                <a:lnTo>
                  <a:pt x="152400" y="88900"/>
                </a:lnTo>
                <a:close/>
                <a:moveTo>
                  <a:pt x="152400" y="139700"/>
                </a:moveTo>
                <a:lnTo>
                  <a:pt x="152400" y="165100"/>
                </a:lnTo>
                <a:lnTo>
                  <a:pt x="127000" y="165100"/>
                </a:lnTo>
                <a:lnTo>
                  <a:pt x="127000" y="139700"/>
                </a:lnTo>
                <a:lnTo>
                  <a:pt x="152400" y="139700"/>
                </a:lnTo>
                <a:close/>
                <a:moveTo>
                  <a:pt x="101600" y="114300"/>
                </a:moveTo>
                <a:lnTo>
                  <a:pt x="76200" y="114300"/>
                </a:lnTo>
                <a:lnTo>
                  <a:pt x="76200" y="88900"/>
                </a:lnTo>
                <a:lnTo>
                  <a:pt x="101600" y="88900"/>
                </a:lnTo>
                <a:lnTo>
                  <a:pt x="101600" y="114300"/>
                </a:lnTo>
                <a:close/>
                <a:moveTo>
                  <a:pt x="76200" y="139700"/>
                </a:moveTo>
                <a:lnTo>
                  <a:pt x="101600" y="139700"/>
                </a:lnTo>
                <a:lnTo>
                  <a:pt x="101600" y="165100"/>
                </a:lnTo>
                <a:lnTo>
                  <a:pt x="76200" y="165100"/>
                </a:lnTo>
                <a:lnTo>
                  <a:pt x="76200" y="139700"/>
                </a:lnTo>
                <a:close/>
                <a:moveTo>
                  <a:pt x="50800" y="114300"/>
                </a:moveTo>
                <a:lnTo>
                  <a:pt x="25400" y="114300"/>
                </a:lnTo>
                <a:lnTo>
                  <a:pt x="25400" y="88900"/>
                </a:lnTo>
                <a:lnTo>
                  <a:pt x="50800" y="88900"/>
                </a:lnTo>
                <a:lnTo>
                  <a:pt x="50800" y="114300"/>
                </a:lnTo>
                <a:close/>
                <a:moveTo>
                  <a:pt x="25400" y="139700"/>
                </a:moveTo>
                <a:lnTo>
                  <a:pt x="50800" y="139700"/>
                </a:lnTo>
                <a:lnTo>
                  <a:pt x="50800" y="165100"/>
                </a:lnTo>
                <a:lnTo>
                  <a:pt x="25400" y="165100"/>
                </a:lnTo>
                <a:lnTo>
                  <a:pt x="25400" y="139700"/>
                </a:lnTo>
                <a:close/>
                <a:moveTo>
                  <a:pt x="25400" y="63500"/>
                </a:moveTo>
                <a:lnTo>
                  <a:pt x="25400" y="38100"/>
                </a:lnTo>
                <a:lnTo>
                  <a:pt x="50800" y="38100"/>
                </a:lnTo>
                <a:lnTo>
                  <a:pt x="50800" y="63500"/>
                </a:lnTo>
                <a:lnTo>
                  <a:pt x="25400" y="63500"/>
                </a:lnTo>
                <a:close/>
                <a:moveTo>
                  <a:pt x="76200" y="63500"/>
                </a:moveTo>
                <a:lnTo>
                  <a:pt x="76200" y="38100"/>
                </a:lnTo>
                <a:lnTo>
                  <a:pt x="101600" y="38100"/>
                </a:lnTo>
                <a:lnTo>
                  <a:pt x="101600" y="63500"/>
                </a:lnTo>
                <a:lnTo>
                  <a:pt x="76200" y="63500"/>
                </a:lnTo>
                <a:close/>
                <a:moveTo>
                  <a:pt x="25400" y="12700"/>
                </a:moveTo>
                <a:cubicBezTo>
                  <a:pt x="11390" y="12700"/>
                  <a:pt x="0" y="24090"/>
                  <a:pt x="0" y="38100"/>
                </a:cubicBezTo>
                <a:lnTo>
                  <a:pt x="0" y="165100"/>
                </a:lnTo>
                <a:cubicBezTo>
                  <a:pt x="0" y="179110"/>
                  <a:pt x="11390" y="190500"/>
                  <a:pt x="25400" y="190500"/>
                </a:cubicBezTo>
                <a:lnTo>
                  <a:pt x="152400" y="190500"/>
                </a:lnTo>
                <a:cubicBezTo>
                  <a:pt x="166410" y="190500"/>
                  <a:pt x="177800" y="179110"/>
                  <a:pt x="177800" y="165100"/>
                </a:cubicBezTo>
                <a:lnTo>
                  <a:pt x="177800" y="38100"/>
                </a:lnTo>
                <a:cubicBezTo>
                  <a:pt x="177800" y="24090"/>
                  <a:pt x="166410" y="12700"/>
                  <a:pt x="152400" y="12700"/>
                </a:cubicBezTo>
                <a:lnTo>
                  <a:pt x="25400" y="12700"/>
                </a:lnTo>
                <a:close/>
              </a:path>
            </a:pathLst>
          </a:custGeom>
          <a:solidFill>
            <a:srgbClr val="5E81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7399867" y="3953935"/>
            <a:ext cx="1776413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像素级异常得分图: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9133417" y="3928535"/>
            <a:ext cx="1570831" cy="338667"/>
          </a:xfrm>
          <a:custGeom>
            <a:avLst/>
            <a:gdLst/>
            <a:ahLst/>
            <a:cxnLst/>
            <a:rect l="l" t="t" r="r" b="b"/>
            <a:pathLst>
              <a:path w="1570831" h="338667">
                <a:moveTo>
                  <a:pt x="0" y="0"/>
                </a:moveTo>
                <a:lnTo>
                  <a:pt x="1570831" y="0"/>
                </a:lnTo>
                <a:lnTo>
                  <a:pt x="1570831" y="338667"/>
                </a:lnTo>
                <a:lnTo>
                  <a:pt x="0" y="338667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9133417" y="3928535"/>
            <a:ext cx="1672431" cy="338667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5E81A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 ∈ ℝ^(H×W)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739467" y="4656671"/>
            <a:ext cx="4267200" cy="1104900"/>
          </a:xfrm>
          <a:custGeom>
            <a:avLst/>
            <a:gdLst/>
            <a:ahLst/>
            <a:cxnLst/>
            <a:rect l="l" t="t" r="r" b="b"/>
            <a:pathLst>
              <a:path w="4267200" h="1104900">
                <a:moveTo>
                  <a:pt x="0" y="0"/>
                </a:moveTo>
                <a:lnTo>
                  <a:pt x="4267200" y="0"/>
                </a:lnTo>
                <a:lnTo>
                  <a:pt x="4267200" y="1104900"/>
                </a:lnTo>
                <a:lnTo>
                  <a:pt x="0" y="1104900"/>
                </a:lnTo>
                <a:lnTo>
                  <a:pt x="0" y="0"/>
                </a:lnTo>
                <a:close/>
              </a:path>
            </a:pathLst>
          </a:custGeom>
          <a:solidFill>
            <a:srgbClr val="4A4E56">
              <a:alpha val="4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6968067" y="4910671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92273" y="2064"/>
                </a:moveTo>
                <a:cubicBezTo>
                  <a:pt x="98187" y="-675"/>
                  <a:pt x="105013" y="-675"/>
                  <a:pt x="110927" y="2064"/>
                </a:cubicBezTo>
                <a:lnTo>
                  <a:pt x="197683" y="42148"/>
                </a:lnTo>
                <a:cubicBezTo>
                  <a:pt x="201057" y="43696"/>
                  <a:pt x="203200" y="47069"/>
                  <a:pt x="203200" y="50800"/>
                </a:cubicBezTo>
                <a:cubicBezTo>
                  <a:pt x="203200" y="54531"/>
                  <a:pt x="201057" y="57904"/>
                  <a:pt x="197683" y="59452"/>
                </a:cubicBezTo>
                <a:lnTo>
                  <a:pt x="110927" y="99536"/>
                </a:lnTo>
                <a:cubicBezTo>
                  <a:pt x="105013" y="102275"/>
                  <a:pt x="98187" y="102275"/>
                  <a:pt x="92273" y="99536"/>
                </a:cubicBezTo>
                <a:lnTo>
                  <a:pt x="5517" y="59452"/>
                </a:lnTo>
                <a:cubicBezTo>
                  <a:pt x="2143" y="57864"/>
                  <a:pt x="0" y="54491"/>
                  <a:pt x="0" y="50800"/>
                </a:cubicBezTo>
                <a:cubicBezTo>
                  <a:pt x="0" y="47109"/>
                  <a:pt x="2143" y="43696"/>
                  <a:pt x="5517" y="42148"/>
                </a:cubicBezTo>
                <a:lnTo>
                  <a:pt x="92273" y="2064"/>
                </a:lnTo>
                <a:close/>
                <a:moveTo>
                  <a:pt x="19090" y="86678"/>
                </a:moveTo>
                <a:lnTo>
                  <a:pt x="84296" y="116800"/>
                </a:lnTo>
                <a:cubicBezTo>
                  <a:pt x="95290" y="121880"/>
                  <a:pt x="107950" y="121880"/>
                  <a:pt x="118943" y="116800"/>
                </a:cubicBezTo>
                <a:lnTo>
                  <a:pt x="184150" y="86678"/>
                </a:lnTo>
                <a:lnTo>
                  <a:pt x="197683" y="92948"/>
                </a:lnTo>
                <a:cubicBezTo>
                  <a:pt x="201057" y="94496"/>
                  <a:pt x="203200" y="97869"/>
                  <a:pt x="203200" y="101600"/>
                </a:cubicBezTo>
                <a:cubicBezTo>
                  <a:pt x="203200" y="105331"/>
                  <a:pt x="201057" y="108704"/>
                  <a:pt x="197683" y="110252"/>
                </a:cubicBezTo>
                <a:lnTo>
                  <a:pt x="110927" y="150336"/>
                </a:lnTo>
                <a:cubicBezTo>
                  <a:pt x="105013" y="153075"/>
                  <a:pt x="98187" y="153075"/>
                  <a:pt x="92273" y="150336"/>
                </a:cubicBezTo>
                <a:lnTo>
                  <a:pt x="5517" y="110252"/>
                </a:lnTo>
                <a:cubicBezTo>
                  <a:pt x="2143" y="108664"/>
                  <a:pt x="0" y="105291"/>
                  <a:pt x="0" y="101600"/>
                </a:cubicBezTo>
                <a:cubicBezTo>
                  <a:pt x="0" y="97909"/>
                  <a:pt x="2143" y="94496"/>
                  <a:pt x="5517" y="92948"/>
                </a:cubicBezTo>
                <a:lnTo>
                  <a:pt x="19050" y="86678"/>
                </a:lnTo>
                <a:close/>
                <a:moveTo>
                  <a:pt x="5517" y="143748"/>
                </a:moveTo>
                <a:lnTo>
                  <a:pt x="19050" y="137478"/>
                </a:lnTo>
                <a:lnTo>
                  <a:pt x="84257" y="167600"/>
                </a:lnTo>
                <a:cubicBezTo>
                  <a:pt x="95250" y="172680"/>
                  <a:pt x="107910" y="172680"/>
                  <a:pt x="118904" y="167600"/>
                </a:cubicBezTo>
                <a:lnTo>
                  <a:pt x="184110" y="137478"/>
                </a:lnTo>
                <a:lnTo>
                  <a:pt x="197644" y="143748"/>
                </a:lnTo>
                <a:cubicBezTo>
                  <a:pt x="201017" y="145296"/>
                  <a:pt x="203160" y="148669"/>
                  <a:pt x="203160" y="152400"/>
                </a:cubicBezTo>
                <a:cubicBezTo>
                  <a:pt x="203160" y="156131"/>
                  <a:pt x="201017" y="159504"/>
                  <a:pt x="197644" y="161052"/>
                </a:cubicBezTo>
                <a:lnTo>
                  <a:pt x="110887" y="201136"/>
                </a:lnTo>
                <a:cubicBezTo>
                  <a:pt x="104973" y="203875"/>
                  <a:pt x="98147" y="203875"/>
                  <a:pt x="92234" y="201136"/>
                </a:cubicBezTo>
                <a:lnTo>
                  <a:pt x="5517" y="161052"/>
                </a:lnTo>
                <a:cubicBezTo>
                  <a:pt x="2143" y="159464"/>
                  <a:pt x="0" y="156091"/>
                  <a:pt x="0" y="152400"/>
                </a:cubicBezTo>
                <a:cubicBezTo>
                  <a:pt x="0" y="148709"/>
                  <a:pt x="2143" y="145296"/>
                  <a:pt x="5517" y="143748"/>
                </a:cubicBezTo>
                <a:close/>
              </a:path>
            </a:pathLst>
          </a:custGeom>
          <a:solidFill>
            <a:srgbClr val="5E81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7196667" y="4859871"/>
            <a:ext cx="3708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图像级分类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942667" y="5266271"/>
            <a:ext cx="39497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判断整张图像是否包含异常,输出二分类概率得分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11214100" y="4656671"/>
            <a:ext cx="4267200" cy="1104900"/>
          </a:xfrm>
          <a:custGeom>
            <a:avLst/>
            <a:gdLst/>
            <a:ahLst/>
            <a:cxnLst/>
            <a:rect l="l" t="t" r="r" b="b"/>
            <a:pathLst>
              <a:path w="4267200" h="1104900">
                <a:moveTo>
                  <a:pt x="0" y="0"/>
                </a:moveTo>
                <a:lnTo>
                  <a:pt x="4267200" y="0"/>
                </a:lnTo>
                <a:lnTo>
                  <a:pt x="4267200" y="1104900"/>
                </a:lnTo>
                <a:lnTo>
                  <a:pt x="0" y="1104900"/>
                </a:lnTo>
                <a:lnTo>
                  <a:pt x="0" y="0"/>
                </a:lnTo>
                <a:close/>
              </a:path>
            </a:pathLst>
          </a:custGeom>
          <a:solidFill>
            <a:srgbClr val="4A4E56">
              <a:alpha val="4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11417300" y="4910671"/>
            <a:ext cx="254000" cy="203200"/>
          </a:xfrm>
          <a:custGeom>
            <a:avLst/>
            <a:gdLst/>
            <a:ahLst/>
            <a:cxnLst/>
            <a:rect l="l" t="t" r="r" b="b"/>
            <a:pathLst>
              <a:path w="254000" h="203200">
                <a:moveTo>
                  <a:pt x="228600" y="19050"/>
                </a:moveTo>
                <a:cubicBezTo>
                  <a:pt x="228600" y="14645"/>
                  <a:pt x="226338" y="10557"/>
                  <a:pt x="222567" y="8255"/>
                </a:cubicBezTo>
                <a:cubicBezTo>
                  <a:pt x="218797" y="5953"/>
                  <a:pt x="214154" y="5715"/>
                  <a:pt x="210225" y="7699"/>
                </a:cubicBezTo>
                <a:lnTo>
                  <a:pt x="164108" y="30758"/>
                </a:lnTo>
                <a:lnTo>
                  <a:pt x="92908" y="6985"/>
                </a:lnTo>
                <a:cubicBezTo>
                  <a:pt x="89694" y="5913"/>
                  <a:pt x="86241" y="6152"/>
                  <a:pt x="83225" y="7660"/>
                </a:cubicBezTo>
                <a:lnTo>
                  <a:pt x="32425" y="33060"/>
                </a:lnTo>
                <a:cubicBezTo>
                  <a:pt x="28099" y="35243"/>
                  <a:pt x="25400" y="39648"/>
                  <a:pt x="25400" y="44450"/>
                </a:cubicBezTo>
                <a:lnTo>
                  <a:pt x="25400" y="184150"/>
                </a:lnTo>
                <a:cubicBezTo>
                  <a:pt x="25400" y="188555"/>
                  <a:pt x="27662" y="192643"/>
                  <a:pt x="31433" y="194945"/>
                </a:cubicBezTo>
                <a:cubicBezTo>
                  <a:pt x="35203" y="197247"/>
                  <a:pt x="39846" y="197485"/>
                  <a:pt x="43775" y="195501"/>
                </a:cubicBezTo>
                <a:lnTo>
                  <a:pt x="89853" y="172442"/>
                </a:lnTo>
                <a:lnTo>
                  <a:pt x="158631" y="195382"/>
                </a:lnTo>
                <a:cubicBezTo>
                  <a:pt x="156924" y="192842"/>
                  <a:pt x="155258" y="190182"/>
                  <a:pt x="153630" y="187484"/>
                </a:cubicBezTo>
                <a:cubicBezTo>
                  <a:pt x="149265" y="180221"/>
                  <a:pt x="144939" y="171887"/>
                  <a:pt x="141724" y="162957"/>
                </a:cubicBezTo>
                <a:lnTo>
                  <a:pt x="101560" y="149582"/>
                </a:lnTo>
                <a:lnTo>
                  <a:pt x="101560" y="36671"/>
                </a:lnTo>
                <a:lnTo>
                  <a:pt x="152360" y="53618"/>
                </a:lnTo>
                <a:lnTo>
                  <a:pt x="152360" y="93027"/>
                </a:lnTo>
                <a:cubicBezTo>
                  <a:pt x="164663" y="78819"/>
                  <a:pt x="182920" y="69850"/>
                  <a:pt x="203160" y="69850"/>
                </a:cubicBezTo>
                <a:cubicBezTo>
                  <a:pt x="212130" y="69850"/>
                  <a:pt x="220702" y="71596"/>
                  <a:pt x="228560" y="74811"/>
                </a:cubicBezTo>
                <a:lnTo>
                  <a:pt x="228600" y="19050"/>
                </a:lnTo>
                <a:close/>
                <a:moveTo>
                  <a:pt x="203200" y="88900"/>
                </a:moveTo>
                <a:cubicBezTo>
                  <a:pt x="176887" y="88900"/>
                  <a:pt x="155575" y="109855"/>
                  <a:pt x="155575" y="135692"/>
                </a:cubicBezTo>
                <a:cubicBezTo>
                  <a:pt x="155575" y="163036"/>
                  <a:pt x="181015" y="195382"/>
                  <a:pt x="194707" y="210820"/>
                </a:cubicBezTo>
                <a:cubicBezTo>
                  <a:pt x="199311" y="215979"/>
                  <a:pt x="207129" y="215979"/>
                  <a:pt x="211733" y="210820"/>
                </a:cubicBezTo>
                <a:cubicBezTo>
                  <a:pt x="225425" y="195382"/>
                  <a:pt x="250865" y="163036"/>
                  <a:pt x="250865" y="135692"/>
                </a:cubicBezTo>
                <a:cubicBezTo>
                  <a:pt x="250865" y="109855"/>
                  <a:pt x="229553" y="88900"/>
                  <a:pt x="203240" y="88900"/>
                </a:cubicBezTo>
                <a:close/>
                <a:moveTo>
                  <a:pt x="187325" y="136525"/>
                </a:moveTo>
                <a:cubicBezTo>
                  <a:pt x="187325" y="127763"/>
                  <a:pt x="194438" y="120650"/>
                  <a:pt x="203200" y="120650"/>
                </a:cubicBezTo>
                <a:cubicBezTo>
                  <a:pt x="211962" y="120650"/>
                  <a:pt x="219075" y="127763"/>
                  <a:pt x="219075" y="136525"/>
                </a:cubicBezTo>
                <a:cubicBezTo>
                  <a:pt x="219075" y="145287"/>
                  <a:pt x="211962" y="152400"/>
                  <a:pt x="203200" y="152400"/>
                </a:cubicBezTo>
                <a:cubicBezTo>
                  <a:pt x="194438" y="152400"/>
                  <a:pt x="187325" y="145287"/>
                  <a:pt x="187325" y="136525"/>
                </a:cubicBezTo>
                <a:close/>
              </a:path>
            </a:pathLst>
          </a:custGeom>
          <a:solidFill>
            <a:srgbClr val="5E81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11671300" y="4859871"/>
            <a:ext cx="3708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像素级定位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1417300" y="5266271"/>
            <a:ext cx="39497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精确定位异常区域的空间位置,生成像素级热力图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743700" y="5965829"/>
            <a:ext cx="8733367" cy="1405467"/>
          </a:xfrm>
          <a:custGeom>
            <a:avLst/>
            <a:gdLst/>
            <a:ahLst/>
            <a:cxnLst/>
            <a:rect l="l" t="t" r="r" b="b"/>
            <a:pathLst>
              <a:path w="8733367" h="1405467">
                <a:moveTo>
                  <a:pt x="0" y="0"/>
                </a:moveTo>
                <a:lnTo>
                  <a:pt x="8733367" y="0"/>
                </a:lnTo>
                <a:lnTo>
                  <a:pt x="8733367" y="1405467"/>
                </a:lnTo>
                <a:lnTo>
                  <a:pt x="0" y="1405467"/>
                </a:lnTo>
                <a:lnTo>
                  <a:pt x="0" y="0"/>
                </a:lnTo>
                <a:close/>
              </a:path>
            </a:pathLst>
          </a:custGeom>
          <a:solidFill>
            <a:srgbClr val="5E81AC">
              <a:alpha val="10196"/>
            </a:srgbClr>
          </a:solidFill>
          <a:ln w="8467">
            <a:solidFill>
              <a:srgbClr val="5E81A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6951134" y="6173260"/>
            <a:ext cx="8420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技术路径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951134" y="6579660"/>
            <a:ext cx="84074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基于预训练CLIP模型,通过</a:t>
            </a:r>
            <a:r>
              <a:rPr lang="en-US" sz="1400" b="1" dirty="0">
                <a:solidFill>
                  <a:srgbClr val="5E81A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多尺度空间聚合</a:t>
            </a:r>
            <a:r>
              <a:rPr lang="en-US" sz="14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增强局部特征提取,引入</a:t>
            </a:r>
            <a:r>
              <a:rPr lang="en-US" sz="1400" b="1" dirty="0">
                <a:solidFill>
                  <a:srgbClr val="5E81A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异常聚焦适配器</a:t>
            </a:r>
            <a:r>
              <a:rPr lang="en-US" sz="14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引导注意力机制关注异常区域,配合</a:t>
            </a:r>
            <a:r>
              <a:rPr lang="en-US" sz="1400" b="1" dirty="0">
                <a:solidFill>
                  <a:srgbClr val="5E81A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可学习文本提示词</a:t>
            </a:r>
            <a:r>
              <a:rPr lang="en-US" sz="14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优化零-shot推理。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738</TotalTime>
  <Words>466</Words>
  <Application>Microsoft Office PowerPoint</Application>
  <PresentationFormat>自定义</PresentationFormat>
  <Paragraphs>108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3" baseType="lpstr">
      <vt:lpstr>Noto Sans SC</vt:lpstr>
      <vt:lpstr>Liter</vt:lpstr>
      <vt:lpstr>MiSans</vt:lpstr>
      <vt:lpstr>Arial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跨模态视觉模型前沿进展——CLIP与AF-CLIP的零-shot应用探索</dc:title>
  <dc:subject>跨模态视觉模型前沿进展——CLIP与AF-CLIP的零-shot应用探索</dc:subject>
  <dc:creator>Kimi</dc:creator>
  <cp:lastModifiedBy>新阳 万</cp:lastModifiedBy>
  <cp:revision>17</cp:revision>
  <dcterms:created xsi:type="dcterms:W3CDTF">2025-12-28T04:08:49Z</dcterms:created>
  <dcterms:modified xsi:type="dcterms:W3CDTF">2026-01-20T07:10:43Z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跨模态视觉模型前沿进展——CLIP与AF-CLIP的零-shot应用探索","ContentProducer":"001191110108MACG2KBH8F10000","ProduceID":"19b62e96-48c2-8596-8000-0000d04470e8","ReservedCode1":"","ContentPropagator":"001191110108MACG2KBH8F20000","PropagateID":"19b62e96-48c2-8596-8000-0000d04470e8","ReservedCode2":""}</vt:lpwstr>
  </property>
</Properties>
</file>