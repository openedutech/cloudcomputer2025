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embeddedFontLst>
    <p:embeddedFont>
      <p:font typeface="DingTalk JinBuTi" panose="00020600040101010101" charset="-122"/>
      <p:regular r:id="rId11"/>
    </p:embeddedFont>
    <p:embeddedFont>
      <p:font typeface="等线" panose="02010600030101010101" charset="-122"/>
      <p:regular r:id="rId1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3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5" descr="图形用户界面, 应用程序&#10;&#10;描述已自动生成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99058" y="861038"/>
            <a:ext cx="12084166" cy="513588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7"/>
          <p:cNvSpPr txBox="1"/>
          <p:nvPr/>
        </p:nvSpPr>
        <p:spPr>
          <a:xfrm>
            <a:off x="373371" y="2849809"/>
            <a:ext cx="10675353" cy="100581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6000">
                <a:solidFill>
                  <a:srgbClr val="FFFFFF"/>
                </a:solidFill>
              </a:rPr>
              <a:t>ConceptGraph AI</a:t>
            </a:r>
            <a:endParaRPr lang="en-US" altLang="zh-CN" dirty="0"/>
          </a:p>
        </p:txBody>
      </p:sp>
      <p:sp>
        <p:nvSpPr>
          <p:cNvPr id="4" name="直接连接符 9"/>
          <p:cNvSpPr/>
          <p:nvPr/>
        </p:nvSpPr>
        <p:spPr bwMode="auto">
          <a:xfrm flipV="1">
            <a:off x="571486" y="4236614"/>
            <a:ext cx="3428914" cy="22859"/>
          </a:xfrm>
          <a:prstGeom prst="line">
            <a:avLst/>
          </a:prstGeom>
          <a:ln>
            <a:solidFill>
              <a:srgbClr val="5B9BD5"/>
            </a:solidFill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5" name="文本框 11"/>
          <p:cNvSpPr txBox="1"/>
          <p:nvPr/>
        </p:nvSpPr>
        <p:spPr>
          <a:xfrm>
            <a:off x="419090" y="5219570"/>
            <a:ext cx="5196710" cy="640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FFFFFF"/>
                </a:solidFill>
                <a:latin typeface="DingTalk JinBuTi" panose="00020600040101010101" charset="-122"/>
                <a:ea typeface="DingTalk JinBuTi" panose="00020600040101010101" charset="-122"/>
              </a:rPr>
              <a:t>组号:16
成员:张凯诚 10235501435；肖璟仪 10235501452</a:t>
            </a:r>
            <a:endParaRPr lang="en-US" altLang="zh-CN" dirty="0"/>
          </a:p>
        </p:txBody>
      </p:sp>
      <p:sp>
        <p:nvSpPr>
          <p:cNvPr id="6" name="矩形 18"/>
          <p:cNvSpPr/>
          <p:nvPr/>
        </p:nvSpPr>
        <p:spPr bwMode="auto">
          <a:xfrm>
            <a:off x="60958" y="2735512"/>
            <a:ext cx="76200" cy="1609725"/>
          </a:xfrm>
          <a:prstGeom prst="rect">
            <a:avLst/>
          </a:prstGeom>
          <a:solidFill>
            <a:srgbClr val="006469"/>
          </a:solidFill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7" name="文本框 1"/>
          <p:cNvSpPr txBox="1"/>
          <p:nvPr/>
        </p:nvSpPr>
        <p:spPr>
          <a:xfrm>
            <a:off x="571486" y="3817525"/>
            <a:ext cx="3078403" cy="441949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ct val="100000"/>
              </a:lnSpc>
            </a:pPr>
            <a:r>
              <a:rPr lang="zh-CN" altLang="en-US" sz="2280">
                <a:solidFill>
                  <a:schemeClr val="bg1"/>
                </a:solidFill>
              </a:rPr>
              <a:t>跨学科知识图谱智能体</a:t>
            </a:r>
            <a:endParaRPr lang="zh-CN" altLang="en-US" sz="228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86"/>
          <p:cNvSpPr/>
          <p:nvPr/>
        </p:nvSpPr>
        <p:spPr bwMode="auto">
          <a:xfrm>
            <a:off x="4358531" y="754361"/>
            <a:ext cx="3469221" cy="76198"/>
          </a:xfrm>
          <a:prstGeom prst="parallelogram">
            <a:avLst>
              <a:gd name="adj" fmla="val 45339"/>
            </a:avLst>
          </a:prstGeom>
          <a:solidFill>
            <a:srgbClr val="006469"/>
          </a:solidFill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" name="文本框 87"/>
          <p:cNvSpPr txBox="1"/>
          <p:nvPr/>
        </p:nvSpPr>
        <p:spPr>
          <a:xfrm>
            <a:off x="5105272" y="160016"/>
            <a:ext cx="2011630" cy="4571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>
                <a:solidFill>
                  <a:srgbClr val="FFFFFF"/>
                </a:solidFill>
              </a:rPr>
              <a:t>系统架构总览</a:t>
            </a:r>
            <a:endParaRPr lang="en-US" altLang="zh-CN" dirty="0"/>
          </a:p>
        </p:txBody>
      </p:sp>
      <p:pic>
        <p:nvPicPr>
          <p:cNvPr id="4" name="图片 2" descr="图形用户界面, 应用程序&#10;&#10;描述已自动生成"/>
          <p:cNvPicPr>
            <a:picLocks noChangeAspect="1"/>
          </p:cNvPicPr>
          <p:nvPr/>
        </p:nvPicPr>
        <p:blipFill rotWithShape="1">
          <a:blip r:embed="rId2"/>
          <a:srcRect t="-18926" b="-18926"/>
          <a:stretch>
            <a:fillRect/>
          </a:stretch>
        </p:blipFill>
        <p:spPr bwMode="auto">
          <a:xfrm>
            <a:off x="1348706" y="1600160"/>
            <a:ext cx="3102317" cy="434340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hape 2162"/>
          <p:cNvSpPr txBox="1"/>
          <p:nvPr/>
        </p:nvSpPr>
        <p:spPr>
          <a:xfrm>
            <a:off x="4937637" y="3093643"/>
            <a:ext cx="6553036" cy="952476"/>
          </a:xfrm>
          <a:prstGeom prst="rect">
            <a:avLst/>
          </a:prstGeom>
          <a:noFill/>
        </p:spPr>
        <p:txBody>
          <a:bodyPr wrap="square" lIns="35719" tIns="35719" rIns="35719" bIns="35719" anchor="ctr">
            <a:spAutoFit/>
          </a:bodyPr>
          <a:lstStyle/>
          <a:p>
            <a:pPr hangingPunct="0">
              <a:lnSpc>
                <a:spcPct val="100000"/>
              </a:lnSpc>
            </a:pPr>
            <a:r>
              <a:rPr lang="zh-CN" altLang="en-US" sz="1440">
                <a:solidFill>
                  <a:srgbClr val="FFFFFF"/>
                </a:solidFill>
              </a:rPr>
              <a:t>支持两种部署方式：
Docker部署：docker-compose up -d 一键启动4个容器
本地开发：前端npm start + 后端uvicorn + 本地Neo4j/Redis
我们提供了跨平台快速启动脚本，确保Windows、Linux、Mac都能轻松部署。</a:t>
            </a:r>
            <a:endParaRPr lang="en-US" altLang="zh-CN" dirty="0"/>
          </a:p>
        </p:txBody>
      </p:sp>
      <p:sp>
        <p:nvSpPr>
          <p:cNvPr id="6" name="Shape 2176"/>
          <p:cNvSpPr/>
          <p:nvPr/>
        </p:nvSpPr>
        <p:spPr bwMode="auto">
          <a:xfrm>
            <a:off x="3512732" y="1234409"/>
            <a:ext cx="732317" cy="7323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18437" y="3163"/>
                </a:lnTo>
                <a:lnTo>
                  <a:pt x="21600" y="10800"/>
                </a:lnTo>
                <a:lnTo>
                  <a:pt x="18437" y="18437"/>
                </a:lnTo>
                <a:lnTo>
                  <a:pt x="10800" y="21600"/>
                </a:lnTo>
                <a:lnTo>
                  <a:pt x="3163" y="18437"/>
                </a:lnTo>
                <a:lnTo>
                  <a:pt x="0" y="10800"/>
                </a:lnTo>
                <a:lnTo>
                  <a:pt x="3163" y="3163"/>
                </a:lnTo>
              </a:path>
            </a:pathLst>
          </a:custGeom>
          <a:solidFill>
            <a:srgbClr val="006669"/>
          </a:solidFill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86"/>
          <p:cNvSpPr/>
          <p:nvPr/>
        </p:nvSpPr>
        <p:spPr bwMode="auto">
          <a:xfrm>
            <a:off x="4358531" y="754361"/>
            <a:ext cx="3469221" cy="76198"/>
          </a:xfrm>
          <a:prstGeom prst="parallelogram">
            <a:avLst>
              <a:gd name="adj" fmla="val 45339"/>
            </a:avLst>
          </a:prstGeom>
          <a:solidFill>
            <a:srgbClr val="006469"/>
          </a:solidFill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" name="文本框 87"/>
          <p:cNvSpPr txBox="1"/>
          <p:nvPr/>
        </p:nvSpPr>
        <p:spPr>
          <a:xfrm>
            <a:off x="4190895" y="160016"/>
            <a:ext cx="3840384" cy="4571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>
                <a:solidFill>
                  <a:srgbClr val="FFFFFF"/>
                </a:solidFill>
              </a:rPr>
              <a:t>三层缓存架构（核心优化）</a:t>
            </a:r>
            <a:endParaRPr lang="en-US" altLang="zh-CN" dirty="0"/>
          </a:p>
        </p:txBody>
      </p:sp>
      <p:sp>
        <p:nvSpPr>
          <p:cNvPr id="4" name="矩形 11"/>
          <p:cNvSpPr/>
          <p:nvPr/>
        </p:nvSpPr>
        <p:spPr bwMode="auto">
          <a:xfrm>
            <a:off x="1516342" y="1478243"/>
            <a:ext cx="9151391" cy="4571886"/>
          </a:xfrm>
          <a:prstGeom prst="rect">
            <a:avLst/>
          </a:prstGeom>
          <a:blipFill dpi="0" rotWithShape="1">
            <a:blip r:embed="rId2"/>
            <a:stretch>
              <a:fillRect l="4205" r="4205"/>
            </a:stretch>
          </a:blipFill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86"/>
          <p:cNvSpPr/>
          <p:nvPr/>
        </p:nvSpPr>
        <p:spPr bwMode="auto">
          <a:xfrm>
            <a:off x="4358531" y="754361"/>
            <a:ext cx="3469221" cy="76198"/>
          </a:xfrm>
          <a:prstGeom prst="parallelogram">
            <a:avLst>
              <a:gd name="adj" fmla="val 45339"/>
            </a:avLst>
          </a:prstGeom>
          <a:solidFill>
            <a:srgbClr val="006469"/>
          </a:solidFill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" name="文本框 87"/>
          <p:cNvSpPr txBox="1"/>
          <p:nvPr/>
        </p:nvSpPr>
        <p:spPr>
          <a:xfrm>
            <a:off x="4190848" y="160016"/>
            <a:ext cx="38404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>
                <a:solidFill>
                  <a:srgbClr val="FFFFFF"/>
                </a:solidFill>
              </a:rPr>
              <a:t>数据流向与云服务调用链路</a:t>
            </a:r>
            <a:endParaRPr lang="en-US" altLang="zh-CN" dirty="0"/>
          </a:p>
        </p:txBody>
      </p:sp>
      <p:sp>
        <p:nvSpPr>
          <p:cNvPr id="4" name="矩形 11"/>
          <p:cNvSpPr/>
          <p:nvPr/>
        </p:nvSpPr>
        <p:spPr bwMode="auto">
          <a:xfrm>
            <a:off x="1516342" y="1478243"/>
            <a:ext cx="9151391" cy="4571886"/>
          </a:xfrm>
          <a:prstGeom prst="rect">
            <a:avLst/>
          </a:prstGeom>
          <a:blipFill dpi="0" rotWithShape="1">
            <a:blip r:embed="rId2"/>
            <a:stretch>
              <a:fillRect l="4205" r="4205"/>
            </a:stretch>
          </a:blipFill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86"/>
          <p:cNvSpPr/>
          <p:nvPr/>
        </p:nvSpPr>
        <p:spPr bwMode="auto">
          <a:xfrm>
            <a:off x="4358531" y="754361"/>
            <a:ext cx="3469221" cy="76198"/>
          </a:xfrm>
          <a:prstGeom prst="parallelogram">
            <a:avLst>
              <a:gd name="adj" fmla="val 45339"/>
            </a:avLst>
          </a:prstGeom>
          <a:solidFill>
            <a:srgbClr val="006469"/>
          </a:solidFill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" name="文本框 87"/>
          <p:cNvSpPr txBox="1"/>
          <p:nvPr/>
        </p:nvSpPr>
        <p:spPr>
          <a:xfrm>
            <a:off x="5257669" y="160016"/>
            <a:ext cx="1706837" cy="4571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>
                <a:solidFill>
                  <a:srgbClr val="FFFFFF"/>
                </a:solidFill>
              </a:rPr>
              <a:t>技术栈总结</a:t>
            </a:r>
            <a:endParaRPr lang="en-US" altLang="zh-CN" dirty="0"/>
          </a:p>
        </p:txBody>
      </p:sp>
      <p:graphicFrame>
        <p:nvGraphicFramePr>
          <p:cNvPr id="4" name="矩形 1"/>
          <p:cNvGraphicFramePr>
            <a:graphicFrameLocks noGrp="1"/>
          </p:cNvGraphicFramePr>
          <p:nvPr/>
        </p:nvGraphicFramePr>
        <p:xfrm>
          <a:off x="1219170" y="1554441"/>
          <a:ext cx="9742029" cy="320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343"/>
                <a:gridCol w="3247343"/>
                <a:gridCol w="3247343"/>
              </a:tblGrid>
              <a:tr h="243834">
                <a:tc>
                  <a:txBody>
                    <a:bodyPr/>
                    <a:lstStyle/>
                    <a:p>
                      <a:r>
                        <a:rPr lang="zh-CN" altLang="en-US" sz="1200"/>
                        <a:t>层级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技术/服务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作用</a:t>
                      </a:r>
                      <a:endParaRPr lang="en-US" altLang="zh-CN" dirty="0"/>
                    </a:p>
                  </a:txBody>
                  <a:tcPr/>
                </a:tc>
              </a:tr>
              <a:tr h="243834">
                <a:tc>
                  <a:txBody>
                    <a:bodyPr/>
                    <a:lstStyle/>
                    <a:p>
                      <a:r>
                        <a:rPr lang="zh-CN" altLang="en-US" sz="1200"/>
                        <a:t>前端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React + TypeScript + D3.js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交互与可视化</a:t>
                      </a:r>
                      <a:endParaRPr lang="en-US" altLang="zh-CN" dirty="0"/>
                    </a:p>
                  </a:txBody>
                  <a:tcPr/>
                </a:tc>
              </a:tr>
              <a:tr h="243834">
                <a:tc>
                  <a:txBody>
                    <a:bodyPr/>
                    <a:lstStyle/>
                    <a:p>
                      <a:r>
                        <a:rPr lang="zh-CN" altLang="en-US" sz="1200"/>
                        <a:t>后端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FastAPI + Python 3.11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异步API服务</a:t>
                      </a:r>
                      <a:endParaRPr lang="en-US" altLang="zh-CN" dirty="0"/>
                    </a:p>
                  </a:txBody>
                  <a:tcPr/>
                </a:tc>
              </a:tr>
              <a:tr h="243834">
                <a:tc>
                  <a:txBody>
                    <a:bodyPr/>
                    <a:lstStyle/>
                    <a:p>
                      <a:r>
                        <a:rPr lang="zh-CN" altLang="en-US" sz="1200"/>
                        <a:t>缓存层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Redis (TTL 1小时)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热点数据缓存</a:t>
                      </a:r>
                      <a:endParaRPr lang="en-US" altLang="zh-CN" dirty="0"/>
                    </a:p>
                  </a:txBody>
                  <a:tcPr/>
                </a:tc>
              </a:tr>
              <a:tr h="243834">
                <a:tc>
                  <a:txBody>
                    <a:bodyPr/>
                    <a:lstStyle/>
                    <a:p>
                      <a:r>
                        <a:rPr lang="zh-CN" altLang="en-US" sz="1200"/>
                        <a:t>数据库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Neo4j 5.15.0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图数据持久化</a:t>
                      </a:r>
                      <a:endParaRPr lang="en-US" altLang="zh-CN" dirty="0"/>
                    </a:p>
                  </a:txBody>
                  <a:tcPr/>
                </a:tc>
              </a:tr>
              <a:tr h="243834">
                <a:tc>
                  <a:txBody>
                    <a:bodyPr/>
                    <a:lstStyle/>
                    <a:p>
                      <a:r>
                        <a:rPr lang="zh-CN" altLang="en-US" sz="1200"/>
                        <a:t>LLM服务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OpenRouter (Gemini Flash)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概念图谱生成</a:t>
                      </a:r>
                      <a:endParaRPr lang="en-US" altLang="zh-CN" dirty="0"/>
                    </a:p>
                  </a:txBody>
                  <a:tcPr/>
                </a:tc>
              </a:tr>
              <a:tr h="243834">
                <a:tc>
                  <a:txBody>
                    <a:bodyPr/>
                    <a:lstStyle/>
                    <a:p>
                      <a:r>
                        <a:rPr lang="zh-CN" altLang="en-US" sz="1200"/>
                        <a:t>知识增强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Wikipedia API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权威定义获取</a:t>
                      </a:r>
                      <a:endParaRPr lang="en-US" altLang="zh-CN" dirty="0"/>
                    </a:p>
                  </a:txBody>
                  <a:tcPr/>
                </a:tc>
              </a:tr>
              <a:tr h="243834">
                <a:tc>
                  <a:txBody>
                    <a:bodyPr/>
                    <a:lstStyle/>
                    <a:p>
                      <a:r>
                        <a:rPr lang="zh-CN" altLang="en-US" sz="1200"/>
                        <a:t>学术验证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Arxiv API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文献搜索验证</a:t>
                      </a:r>
                      <a:endParaRPr lang="en-US" altLang="zh-CN" dirty="0"/>
                    </a:p>
                  </a:txBody>
                  <a:tcPr/>
                </a:tc>
              </a:tr>
              <a:tr h="243834">
                <a:tc>
                  <a:txBody>
                    <a:bodyPr/>
                    <a:lstStyle/>
                    <a:p>
                      <a:r>
                        <a:rPr lang="zh-CN" altLang="en-US" sz="1200"/>
                        <a:t>语义计算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OpenAI Embedding API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相似度筛选</a:t>
                      </a:r>
                      <a:endParaRPr lang="en-US" altLang="zh-CN" dirty="0"/>
                    </a:p>
                  </a:txBody>
                  <a:tcPr/>
                </a:tc>
              </a:tr>
              <a:tr h="243834">
                <a:tc>
                  <a:txBody>
                    <a:bodyPr/>
                    <a:lstStyle/>
                    <a:p>
                      <a:r>
                        <a:rPr lang="zh-CN" altLang="en-US" sz="1200"/>
                        <a:t>部署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Docker Compose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容器编排</a:t>
                      </a:r>
                      <a:endParaRPr lang="en-US" altLang="zh-C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WPS 演示</Application>
  <PresentationFormat>宽屏</PresentationFormat>
  <Paragraphs>76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DingTalk JinBuTi</vt:lpstr>
      <vt:lpstr>等线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lingwei kong</dc:creator>
  <cp:lastModifiedBy>取名字好难(눈_눈)</cp:lastModifiedBy>
  <cp:revision>4</cp:revision>
  <dcterms:created xsi:type="dcterms:W3CDTF">2024-05-09T09:39:00Z</dcterms:created>
  <dcterms:modified xsi:type="dcterms:W3CDTF">2026-01-22T12:03:02Z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369B3ECA4D2C46B68BF842ECA6BBB245_13</vt:lpwstr>
  </property>
</Properties>
</file>